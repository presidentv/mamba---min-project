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E065F26-BE9F-482A-BCBC-4317A8B7B53F}">
  <a:tblStyle styleId="{AE065F26-BE9F-482A-BCBC-4317A8B7B53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7236" y="-11493"/>
            <a:ext cx="4517528" cy="187163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lang="en-IN" sz="2000"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&lt;&lt;Programme B.Tech/ M.Tech</a:t>
            </a:r>
            <a:br>
              <a:rPr b="1" lang="en-IN" sz="2000"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IN" sz="2000"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Course Code – Course Title&gt;&gt;</a:t>
            </a:r>
            <a:b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Explainable Multimodal AI for Early Detection of Learning Engagement and Emotional States in Children Using Eye Movement Pattern Recognition and Sentiment Analysis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609088" y="3208471"/>
            <a:ext cx="7071300" cy="27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6525" lvl="0" marL="149225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Ilakkiya S 23BCE2012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6525" lvl="0" marL="149225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Don George 23BDS0006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6525" lvl="0" marL="149225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Adhvaith N A 23BCE2064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525" lvl="0" marL="149225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guide :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Deepika J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225" lvl="0" marL="149225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This project aims to develop and evaluate a multimodal deep-learning system that infers learner engagement and affective state from two channels: gaze behaviour and facial expression. A Transformer with cross-attention integrates the two streams into a joint representation. Each prediction is accompanied by an interpretable explanation of the evidence behind it.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The framework further targets early detection by predicting the engagement level of the next time window rather than only classifying the current one.</a:t>
            </a:r>
            <a:endParaRPr/>
          </a:p>
        </p:txBody>
      </p:sp>
      <p:sp>
        <p:nvSpPr>
          <p:cNvPr id="96" name="Google Shape;96;p14"/>
          <p:cNvSpPr txBox="1"/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3900">
            <a:spAutoFit/>
          </a:bodyPr>
          <a:lstStyle/>
          <a:p>
            <a:pPr indent="0" lvl="0" marL="48640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1" lang="en-IN" sz="3000">
                <a:latin typeface="Times New Roman"/>
                <a:ea typeface="Times New Roman"/>
                <a:cs typeface="Times New Roman"/>
                <a:sym typeface="Times New Roman"/>
              </a:rPr>
              <a:t>Aim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19-07-2026</a:t>
            </a:r>
            <a:endParaRPr/>
          </a:p>
        </p:txBody>
      </p:sp>
      <p:sp>
        <p:nvSpPr>
          <p:cNvPr id="98" name="Google Shape;9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SCOPE</a:t>
            </a:r>
            <a:endParaRPr/>
          </a:p>
        </p:txBody>
      </p:sp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IN" sz="1500">
                <a:latin typeface="Times New Roman"/>
                <a:ea typeface="Times New Roman"/>
                <a:cs typeface="Times New Roman"/>
                <a:sym typeface="Times New Roman"/>
              </a:rPr>
              <a:t>Sustained engagement is among the strongest predictors of learning outcome, yet teachers in online and blended classrooms have little visibility of the moment a learner disengages. Existing automatic engagement detection systems are largely single-modality, are trained on adult or university-student data, and behave as black boxes, which limits their acceptance in educational settings.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IN" sz="1500">
                <a:latin typeface="Times New Roman"/>
                <a:ea typeface="Times New Roman"/>
                <a:cs typeface="Times New Roman"/>
                <a:sym typeface="Times New Roman"/>
              </a:rPr>
              <a:t>This project develops an explainable multimodal framework that combines eye-movement descriptors extracted from ordinary webcam video, namely fixation duration, gaze dispersion, blink rate and off-screen ratio, with facial affect features, and fuses them through a Transformer cross-attention network to predict an ordinal engagement level.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IN" sz="1500">
                <a:latin typeface="Times New Roman"/>
                <a:ea typeface="Times New Roman"/>
                <a:cs typeface="Times New Roman"/>
                <a:sym typeface="Times New Roman"/>
              </a:rPr>
              <a:t>Explainability is provided through SHAP-based modality attribution and attention rollout, and is validated by a feature-deletion faithfulness test rather than assumed. The system is trained and evaluated on public engagement corpora with a child affect corpus used for transfer analysis, and is benchmarked against unimodal and classical baselines using macro-F1 on subject-independent splits.</a:t>
            </a:r>
            <a:endParaRPr/>
          </a:p>
        </p:txBody>
      </p:sp>
      <p:sp>
        <p:nvSpPr>
          <p:cNvPr id="105" name="Google Shape;105;p15"/>
          <p:cNvSpPr txBox="1"/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3900">
            <a:spAutoFit/>
          </a:bodyPr>
          <a:lstStyle/>
          <a:p>
            <a:pPr indent="0" lvl="0" marL="48640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1" lang="en-IN" sz="300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19-07-2026</a:t>
            </a:r>
            <a:endParaRPr/>
          </a:p>
        </p:txBody>
      </p:sp>
      <p:sp>
        <p:nvSpPr>
          <p:cNvPr id="107" name="Google Shape;10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SCOPE</a:t>
            </a:r>
            <a:endParaRPr/>
          </a:p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Google Shape;113;p16"/>
          <p:cNvGraphicFramePr/>
          <p:nvPr/>
        </p:nvGraphicFramePr>
        <p:xfrm>
          <a:off x="794647" y="13744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{AE065F26-BE9F-482A-BCBC-4317A8B7B53F}</a:tableStyleId>
              </a:tblPr>
              <a:tblGrid>
                <a:gridCol w="1650000"/>
                <a:gridCol w="1900000"/>
                <a:gridCol w="2100000"/>
                <a:gridCol w="2200000"/>
                <a:gridCol w="2319000"/>
              </a:tblGrid>
              <a:tr h="2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9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9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Objective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9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9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 / Cons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9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1F3864"/>
                    </a:solidFill>
                  </a:tcPr>
                </a:tc>
              </a:tr>
              <a:tr h="42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Whitehill et al., IEEE TAC, 2014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Recognise engagement from facial expression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Gabor features with SVM and GentleBoost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Pros: first rigorous protocol. Cons: single modality, lab task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Matches human observer agreement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</a:tr>
              <a:tr h="42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Bosch et al., IUI, 2015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 learning-centred affect in class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Face-based classifiers, students aged 11 to 14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Pros: real classroom, child-aged. Cons: face only, occlusion errors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Feasible in the wild, but accuracy drops sharply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</a:tr>
              <a:tr h="42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Gupta et al., DAiSEE, 2016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 an in-the-wild engagement benchmark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9,068 clips, 112 subjects, four ordinal levels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Pros: standard benchmark. Cons: class imbalance, label noise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Baselines reach 50 to 60 per cent accuracy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</a:tr>
              <a:tr h="42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Tsai et al., ACL, 2019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Fuse unaligned multimodal sequences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Multimodal Transformer with cross-modal attention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Pros: no alignment needed. Cons: data-hungry, opaque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Beats early and late fusion on affect tasks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</a:tr>
              <a:tr h="42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Singh et al., EngageNet, ICMI, 2023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Large-scale engagement dataset and baselines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11,300+ clips, 127 subjects, gaze and head pose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Pros: subject-independent splits. Cons: participants aged 18 to 37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Gaze and head pose are the strongest predictors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</a:tr>
              <a:tr h="42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Nojavanasghari et al., EmoReact, ICMI, 2016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Recognise emotional responses in children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 children, multi-label emotion annotation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Pros: rare child data. Cons: reaction videos, not learning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Fusion clearly beats unimodal for children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</a:tr>
              <a:tr h="42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Abedi and Khan, CRV, 2021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Improve engagement accuracy on DAiSEE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ResNet and TCN hybrid, spatio-temporal modelling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Pros: strong temporal model. Cons: no gaze branch, no XAI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Beats frame-level CNN baselines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4" name="Google Shape;114;p16"/>
          <p:cNvSpPr txBox="1"/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3900">
            <a:spAutoFit/>
          </a:bodyPr>
          <a:lstStyle/>
          <a:p>
            <a:pPr indent="0" lvl="0" marL="48640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1" lang="en-IN" sz="3000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858" y="4611603"/>
            <a:ext cx="4017612" cy="48772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19-07-2026</a:t>
            </a:r>
            <a:endParaRPr/>
          </a:p>
        </p:txBody>
      </p:sp>
      <p:sp>
        <p:nvSpPr>
          <p:cNvPr id="117" name="Google Shape;11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SCOPE</a:t>
            </a:r>
            <a:endParaRPr/>
          </a:p>
        </p:txBody>
      </p:sp>
      <p:sp>
        <p:nvSpPr>
          <p:cNvPr id="118" name="Google Shape;11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Google Shape;123;p17"/>
          <p:cNvGraphicFramePr/>
          <p:nvPr/>
        </p:nvGraphicFramePr>
        <p:xfrm>
          <a:off x="794647" y="13744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{AE065F26-BE9F-482A-BCBC-4317A8B7B53F}</a:tableStyleId>
              </a:tblPr>
              <a:tblGrid>
                <a:gridCol w="1650000"/>
                <a:gridCol w="1900000"/>
                <a:gridCol w="2100000"/>
                <a:gridCol w="2200000"/>
                <a:gridCol w="2319000"/>
              </a:tblGrid>
              <a:tr h="2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9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9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Objective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9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9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 / Cons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9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1F3864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Steffan et al., Infancy, 2024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Validate webcam eye tracking with children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125 toddlers, WebGazer against lab trackers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Pros: proves child feasibility. Cons: 42 vs 10 per cent attrition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Usable at coarse area-of-interest resolution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Marquez-Carpintero et al., DIPSER, 2025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In-person engagement and emotion in the wild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Multi-camera and physiological, four expert annotators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Pros: strong annotation, diverse sample. Cons: adults, heavy setup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Multi-annotator labels cut label noise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EyeFormer, UIST, 2024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Predict personalised gaze scanpaths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 with reinforcement learning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Pros: models individual variation. Cons: not engagement-specific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Transformers now lead scanpath prediction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 and Bi-LSTM engagement fusion, 2025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Recognise engagement from video and gaze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Dual-stream Transformer, Bi-LSTM, OpenFace gaze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Pros: gaze plus Transformer fusion. Cons: no explainability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Closest architectural baseline to this project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Behavior capture explainable engagement recognition, 2024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Explainable engagement recognition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Interpretable-by-design disengagement indicators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Pros: intrinsic XAI, not post-hoc. Cons: no gaze or text branch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Explanations mirror human observation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Interpretable multimodal emotion recognition with SHAP, 2025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Transparent multimodal emotion recognition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Optimised Transformer fusion with SHAP attribution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Pros: modality-level attribution. Cons: emotion not engagement, adults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Template for explaining fused predictions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VisioPhysioENet, 2024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 engagement from vision and physiology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Visual features combined with physiological signals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Pros: low-cost extra channel. Cons: no gaze branch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Physiological cues add to visual-only models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Zero-shot vision-language models for classroom engagement, 2026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prompted VLMs on engagement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Zero-shot VLMs, cross-dataset benchmark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Pros: tests a strong modern baseline. Cons: unstable, prompt-sensitive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Near-random per student; purpose-built models still needed</a:t>
                      </a:r>
                      <a:endParaRPr/>
                    </a:p>
                  </a:txBody>
                  <a:tcPr marT="21600" marB="21600" marR="36000" marL="36000" anchor="ctr"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124" name="Google Shape;124;p17"/>
          <p:cNvSpPr txBox="1"/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3900">
            <a:spAutoFit/>
          </a:bodyPr>
          <a:lstStyle/>
          <a:p>
            <a:pPr indent="0" lvl="0" marL="48640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1" lang="en-IN" sz="3000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858" y="4611603"/>
            <a:ext cx="4017612" cy="48772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19-07-2026</a:t>
            </a:r>
            <a:endParaRPr/>
          </a:p>
        </p:txBody>
      </p:sp>
      <p:sp>
        <p:nvSpPr>
          <p:cNvPr id="127" name="Google Shape;1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SCOPE</a:t>
            </a:r>
            <a:endParaRPr/>
          </a:p>
        </p:txBody>
      </p:sp>
      <p:sp>
        <p:nvSpPr>
          <p:cNvPr id="128" name="Google Shape;1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IN" sz="1500">
                <a:latin typeface="Times New Roman"/>
                <a:ea typeface="Times New Roman"/>
                <a:cs typeface="Times New Roman"/>
                <a:sym typeface="Times New Roman"/>
              </a:rPr>
              <a:t>No published system combines child-oriented eye-movement analysis, emotion or sentiment recognition, Transformer-based fusion and explainable AI for learning engagement. The closest existing systems cover at most three of these four components.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IN" sz="1500">
                <a:latin typeface="Times New Roman"/>
                <a:ea typeface="Times New Roman"/>
                <a:cs typeface="Times New Roman"/>
                <a:sym typeface="Times New Roman"/>
              </a:rPr>
              <a:t>Every major engagement benchmark released between 2021 and 2026, including DAiSEE, EngageNet, CMOSE and DIPSER, uses adults or university students, so engagement models remain unvalidated for school-age learners.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IN" sz="1500">
                <a:latin typeface="Times New Roman"/>
                <a:ea typeface="Times New Roman"/>
                <a:cs typeface="Times New Roman"/>
                <a:sym typeface="Times New Roman"/>
              </a:rPr>
              <a:t>Almost all existing systems classify the current engagement state. Very few predict disengagement in advance or report a prediction horizon, so early detection remains largely an unmet claim.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IN" sz="1500">
                <a:latin typeface="Times New Roman"/>
                <a:ea typeface="Times New Roman"/>
                <a:cs typeface="Times New Roman"/>
                <a:sym typeface="Times New Roman"/>
              </a:rPr>
              <a:t>Explainability in this domain is usually limited to plotting attention weights or SHAP values without any faithfulness validation, despite the documented dispute over whether attention constitutes an explanation.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IN" sz="1500">
                <a:latin typeface="Times New Roman"/>
                <a:ea typeface="Times New Roman"/>
                <a:cs typeface="Times New Roman"/>
                <a:sym typeface="Times New Roman"/>
              </a:rPr>
              <a:t>Fairness and regulatory concerns, including skin-tone imbalance in affect corpora and restrictions on emotion inference in educational settings, are rarely addressed in the engagement literature.</a:t>
            </a:r>
            <a:endParaRPr/>
          </a:p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3900">
            <a:spAutoFit/>
          </a:bodyPr>
          <a:lstStyle/>
          <a:p>
            <a:pPr indent="0" lvl="0" marL="48640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1" lang="en-IN" sz="3000"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19-07-2026</a:t>
            </a:r>
            <a:endParaRPr/>
          </a:p>
        </p:txBody>
      </p:sp>
      <p:sp>
        <p:nvSpPr>
          <p:cNvPr id="136" name="Google Shape;13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SCOPE</a:t>
            </a:r>
            <a:endParaRPr/>
          </a:p>
        </p:txBody>
      </p:sp>
      <p:sp>
        <p:nvSpPr>
          <p:cNvPr id="137" name="Google Shape;13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To extract eye-movement descriptors, including fixation duration, gaze dispersion, blink rate, off-screen ratio and head-pose stability, from ordinary webcam video.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To extract facial affect features using a pretrained expression-recognition model and temporally align them with the gaze stream.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To design a Transformer-based cross-attention network that fuses the gaze and affect streams into an ordinal engagement prediction.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To implement an early-detection variant that predicts the engagement level of the next time window, and to report the achieved prediction horizon.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To generate and validate explanations using SHAP modality attribution, attention rollout and a feature-deletion faithfulness test.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To benchmark the framework against unimodal and classical baselines using macro-F1 on subject-independent splits, and to analyse transfer to child affect data.</a:t>
            </a:r>
            <a:endParaRPr/>
          </a:p>
        </p:txBody>
      </p:sp>
      <p:sp>
        <p:nvSpPr>
          <p:cNvPr id="143" name="Google Shape;143;p19"/>
          <p:cNvSpPr txBox="1"/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3900">
            <a:spAutoFit/>
          </a:bodyPr>
          <a:lstStyle/>
          <a:p>
            <a:pPr indent="0" lvl="0" marL="48640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1" lang="en-IN" sz="300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19-07-2026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SCOPE</a:t>
            </a:r>
            <a:endParaRPr/>
          </a:p>
        </p:txBody>
      </p:sp>
      <p:sp>
        <p:nvSpPr>
          <p:cNvPr id="146" name="Google Shape;14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981526" y="4644675"/>
            <a:ext cx="63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Identified:  SDG 4 - Quality Education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Outcome:  Conference paper (Scopus)   |   TRL 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3900">
            <a:spAutoFit/>
          </a:bodyPr>
          <a:lstStyle/>
          <a:p>
            <a:pPr indent="0" lvl="0" marL="48640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1" lang="en-IN" sz="30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0"/>
          <p:cNvSpPr txBox="1"/>
          <p:nvPr>
            <p:ph idx="1" type="body"/>
          </p:nvPr>
        </p:nvSpPr>
        <p:spPr>
          <a:xfrm>
            <a:off x="545592" y="1442399"/>
            <a:ext cx="11100000" cy="4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IN" sz="900">
                <a:latin typeface="Times New Roman"/>
                <a:ea typeface="Times New Roman"/>
                <a:cs typeface="Times New Roman"/>
                <a:sym typeface="Times New Roman"/>
              </a:rPr>
              <a:t>[1] J. Whitehill, Z. Serpell, Y.-C. Lin, A. Foster, and J. R. Movellan, "The faces of engagement: Automatic recognition of student engagement from facial expressions," IEEE Trans. Affective Computing, vol. 5, no. 1, pp. 86-98, 2014.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IN" sz="900">
                <a:latin typeface="Times New Roman"/>
                <a:ea typeface="Times New Roman"/>
                <a:cs typeface="Times New Roman"/>
                <a:sym typeface="Times New Roman"/>
              </a:rPr>
              <a:t>[2] N. Bosch, S. K. D'Mello, R. S. Baker, J. Ocumpaugh, V. Shute, M. Ventura, L. Wang, and W. Zhao, "Automatic detection of learning-centered affective states in the wild," in Proc. ACM IUI, 2015, pp. 379-388.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IN" sz="900">
                <a:latin typeface="Times New Roman"/>
                <a:ea typeface="Times New Roman"/>
                <a:cs typeface="Times New Roman"/>
                <a:sym typeface="Times New Roman"/>
              </a:rPr>
              <a:t>[3] A. Gupta, A. D'Cunha, K. Awasthi, and V. Balasubramanian, "DAiSEE: Towards user engagement recognition in the wild," arXiv:1609.01885, 2016.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IN" sz="900">
                <a:latin typeface="Times New Roman"/>
                <a:ea typeface="Times New Roman"/>
                <a:cs typeface="Times New Roman"/>
                <a:sym typeface="Times New Roman"/>
              </a:rPr>
              <a:t>[4] Y.-H. H. Tsai, S. Bai, P. P. Liang, J. Z. Kolter, L.-P. Morency, and R. Salakhutdinov, "Multimodal Transformer for unaligned multimodal language sequences," in Proc. ACL, 2019, pp. 6558-6569.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IN" sz="900">
                <a:latin typeface="Times New Roman"/>
                <a:ea typeface="Times New Roman"/>
                <a:cs typeface="Times New Roman"/>
                <a:sym typeface="Times New Roman"/>
              </a:rPr>
              <a:t>[5] M. Singh, X. Hoque, D. Zeng, Y. Wang, K. Ikeda, and A. Dhall, "Do I have your attention: A large scale engagement prediction dataset and baselines," in Proc. ACM ICMI, 2023.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IN" sz="900">
                <a:latin typeface="Times New Roman"/>
                <a:ea typeface="Times New Roman"/>
                <a:cs typeface="Times New Roman"/>
                <a:sym typeface="Times New Roman"/>
              </a:rPr>
              <a:t>[6] B. Nojavanasghari, T. Baltrusaitis, C. E. Hughes, and L.-P. Morency, "EmoReact: A multimodal approach and dataset for recognizing emotional responses in children," in Proc. ACM ICMI, 2016, pp. 137-144.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IN" sz="900">
                <a:latin typeface="Times New Roman"/>
                <a:ea typeface="Times New Roman"/>
                <a:cs typeface="Times New Roman"/>
                <a:sym typeface="Times New Roman"/>
              </a:rPr>
              <a:t>[7] A. Abedi and S. S. Khan, "Improving state-of-the-art in detecting student engagement with ResNet and TCN hybrid network," in Proc. Conf. Robots and Vision (CRV), 2021, pp. 151-157.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IN" sz="900">
                <a:latin typeface="Times New Roman"/>
                <a:ea typeface="Times New Roman"/>
                <a:cs typeface="Times New Roman"/>
                <a:sym typeface="Times New Roman"/>
              </a:rPr>
              <a:t>[8] A. Steffan et al., "Validation of an open source, remote web-based eye-tracking method (WebGazer) for research in early childhood," Infancy, vol. 29, no. 1, pp. 31-55, 2024.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IN" sz="900">
                <a:latin typeface="Times New Roman"/>
                <a:ea typeface="Times New Roman"/>
                <a:cs typeface="Times New Roman"/>
                <a:sym typeface="Times New Roman"/>
              </a:rPr>
              <a:t>[9] L. Marquez-Carpintero et al., "DIPSER: A dataset for in-person student engagement recognition in the wild," arXiv:2502.20209, 2025.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IN" sz="900">
                <a:latin typeface="Times New Roman"/>
                <a:ea typeface="Times New Roman"/>
                <a:cs typeface="Times New Roman"/>
                <a:sym typeface="Times New Roman"/>
              </a:rPr>
              <a:t>[10] S. Jain and B. C. Wallace, "Attention is not explanation," in Proc. NAACL-HLT, 2019, pp. 3543-3556.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IN" sz="900">
                <a:latin typeface="Times New Roman"/>
                <a:ea typeface="Times New Roman"/>
                <a:cs typeface="Times New Roman"/>
                <a:sym typeface="Times New Roman"/>
              </a:rPr>
              <a:t>[11] S. Wiegreffe and Y. Pinter, "Attention is not not explanation," in Proc. EMNLP-IJCNLP, 2019, pp. 11-20.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IN" sz="900">
                <a:latin typeface="Times New Roman"/>
                <a:ea typeface="Times New Roman"/>
                <a:cs typeface="Times New Roman"/>
                <a:sym typeface="Times New Roman"/>
              </a:rPr>
              <a:t>[12] "EyeFormer: Predicting personalized scanpaths with transformer-guided reinforcement learning," in Proc. ACM UIST, 2024.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IN" sz="900">
                <a:latin typeface="Times New Roman"/>
                <a:ea typeface="Times New Roman"/>
                <a:cs typeface="Times New Roman"/>
                <a:sym typeface="Times New Roman"/>
              </a:rPr>
              <a:t>[13] "Multimodal engagement recognition by fusing Transformer and Bi-LSTM," in Lecture Notes in Computer Science, Springer, 2025.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IN" sz="900">
                <a:latin typeface="Times New Roman"/>
                <a:ea typeface="Times New Roman"/>
                <a:cs typeface="Times New Roman"/>
                <a:sym typeface="Times New Roman"/>
              </a:rPr>
              <a:t>[14] "Behavior capture based explainable engagement recognition," in Lecture Notes in Computer Science, Springer, 2024.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IN" sz="900">
                <a:latin typeface="Times New Roman"/>
                <a:ea typeface="Times New Roman"/>
                <a:cs typeface="Times New Roman"/>
                <a:sym typeface="Times New Roman"/>
              </a:rPr>
              <a:t>[15] "Interpretable multimodal emotion recognition using an optimized transformer model with SHAP-based transparency," J. Supercomputing, 2025.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IN" sz="900">
                <a:latin typeface="Times New Roman"/>
                <a:ea typeface="Times New Roman"/>
                <a:cs typeface="Times New Roman"/>
                <a:sym typeface="Times New Roman"/>
              </a:rPr>
              <a:t>[16] "Zero-shot vision-language models for classroom engagement recognition: A benchmark study of prompt sensitivity and cross-dataset generalization," 2026.</a:t>
            </a:r>
            <a:endParaRPr/>
          </a:p>
        </p:txBody>
      </p:sp>
      <p:sp>
        <p:nvSpPr>
          <p:cNvPr id="154" name="Google Shape;15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19-07-2026</a:t>
            </a:r>
            <a:endParaRPr/>
          </a:p>
        </p:txBody>
      </p:sp>
      <p:sp>
        <p:nvSpPr>
          <p:cNvPr id="155" name="Google Shape;15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SCOPE</a:t>
            </a:r>
            <a:endParaRPr/>
          </a:p>
        </p:txBody>
      </p:sp>
      <p:sp>
        <p:nvSpPr>
          <p:cNvPr id="156" name="Google Shape;15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