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4" r:id="rId9"/>
    <p:sldId id="265" r:id="rId10"/>
    <p:sldId id="266" r:id="rId11"/>
    <p:sldId id="267" r:id="rId12"/>
    <p:sldId id="269" r:id="rId13"/>
    <p:sldId id="270" r:id="rId14"/>
    <p:sldId id="271" r:id="rId15"/>
    <p:sldId id="268" r:id="rId16"/>
    <p:sldId id="26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8E2E1-8886-43B2-B986-F2B06DAA2FAC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9FDF3-42B5-4A41-B75E-186C38908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85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92BF-19BE-9BF0-E2FC-07A36D054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3AB4F9-CBB3-B18D-E917-C3B064186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F18A0-E201-1900-A139-E830DD3E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8AE-7F97-4550-9DD8-BF69171FDC30}" type="datetime1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906B9-B1F6-B52E-2EE0-7595B1EB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13AE1-F96E-D540-8DE1-8D903DB3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19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2F7EA-3EC9-99AF-13A9-22A3F8B2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1419B-73DB-15DA-D2EE-0FC01B43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80259-8D20-E29B-4DC5-312C3DB0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1830E-3502-194A-88FA-DC3E0F1B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6703C-229C-43C6-0484-38EC263A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9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CE344-6494-09A6-A5E4-811EEE0C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1A0E2-2B9B-B96E-A3FD-0B26BDDB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7CE67-8E8A-4D0D-42DF-DDC842B1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2BD8-A2C4-424B-809A-C64DDCC305D9}" type="datetime1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78C3E-C139-1FD1-979B-D7167995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2F297-889B-B694-6DD5-92F8A6AA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14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2C89C-FEA2-11F6-7988-ADD14A7B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5DE7B-A406-1142-36EA-1C1498740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355A2B-361E-86CB-ABBE-C510D2B22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A5E84-A1E0-A1C4-F7E6-DA9E7B12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F4BC-B3A4-46AF-9AEC-8478EF1369D5}" type="datetime1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DA460-54C8-F2AC-C053-53FF3FAF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F132A-BD40-58D2-CEEC-A1BA2B9E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22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823BE-2514-8722-ED45-41E13E46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BFEE3B-6ABA-1D24-97FE-717EBBC99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53C42-4C6D-988F-42A0-8639A508A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B662B4-F942-A78F-394F-74F603717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445FBE-A81E-92E1-36E3-99D1586F8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D20C02-77C2-CB2A-62F8-60B8C626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993-B405-4F4D-B968-A01C27211659}" type="datetime1">
              <a:rPr lang="en-IN" smtClean="0"/>
              <a:t>08-09-2026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033241-EB08-777E-F678-5D641F64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D711ED-181F-C690-A3B3-1D82670F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27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68B4-E355-69B3-7598-80ADF2F9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1AB3B-AFC6-3627-62E6-22313061F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8C8C-5FBB-4DD7-A06D-BE263480794B}" type="datetime1">
              <a:rPr lang="en-IN" smtClean="0"/>
              <a:t>08-09-2026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2C6591-48E4-480E-7965-DE9F8301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C9D68-A16A-B2D3-C8A6-B5221AF7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06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3F289A-3AD7-C11D-1594-90A35E59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2985-06EC-459B-80C8-F6F4362A1C03}" type="datetime1">
              <a:rPr lang="en-IN" smtClean="0"/>
              <a:t>08-09-2026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252269-BBE3-199F-299B-38D4E9CC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07FDC-B2A9-1304-047F-5808A0B6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26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A4847-FC20-D9BF-0BDE-26EC7EF7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9C584-AC19-D7B4-9DFE-7C1BC2E1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A3262-CE8D-2419-DCCC-C536E9FDA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758D6-7AF2-29C5-E0EE-3B7BE155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E9DA-13C6-48A4-9305-B592482DE8CE}" type="datetime1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AC7E7-68C4-7616-2DE1-0333E2C44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EF51B-1685-66FF-0783-23584C25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38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39D0E-3A71-7252-C837-B8281F0D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E3D557-6893-299F-57A8-A7B173F10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C8BA2-BB08-F4E3-5660-C7370BA56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57E1CE-C7CA-966D-8661-1E99A7DA2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E7C4B-C575-4DCF-9B63-045662930500}" type="datetime1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55516-3E64-07E5-10C5-DE056657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A5AD5-9867-E76D-C035-2856CCFB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1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1D7EC-16EA-5009-5D33-ABFC55F2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9EC6D-8ED5-29E9-9444-CC2D6A1CB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ADFC6-7CEA-ABEE-94C2-870B1E65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6931C-EA1A-43DD-B3B3-66F5BA587712}" type="datetime1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FA3A5-596E-6C2A-F853-30C5DC6F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CE6B1-CE87-B68F-9494-FA6D109F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80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0FF105-FC99-2BCB-131F-2B902F8BA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54FD6-064F-6E12-E8DE-81EC913CD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D2109-32D1-4A0F-F903-5142A204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B0E1-7C95-4C20-B9C6-BA51F388E878}" type="datetime1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5353D-EEF9-CF3C-A97F-F0F0EBFA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2F1DC-3958-BCDE-9A16-88E928E7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3540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454249-E28B-CF91-F4A6-9762E4F3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3D641-7C66-CA7D-30A7-7F95AC27E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1D408-B228-838E-3E43-4304680A5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27C3E-786B-4150-9177-1C28966A2ADC}" type="datetime1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C7A69-1922-F157-900C-FF9566831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80E76-E345-1553-9664-0BCF569B5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4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9E27CD-EF84-CB3A-3D07-A31523568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236" y="-11493"/>
            <a:ext cx="4517528" cy="187163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BAD67C4-20B4-E1F6-A7E7-C8C33181D0C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907459" y="1435543"/>
            <a:ext cx="8924544" cy="1588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1800" b="1" dirty="0">
                <a:solidFill>
                  <a:srgbClr val="5A646E"/>
                </a:solidFill>
                <a:latin typeface="Times New Roman"/>
              </a:rPr>
              <a:t>B.Tech. Computer Science and Engineering
BCSE497J - Project-I</a:t>
            </a:r>
          </a:p>
          <a:p>
            <a:r>
              <a:rPr lang="en-US" sz="2400" b="1" dirty="0">
                <a:solidFill>
                  <a:srgbClr val="1F6F78"/>
                </a:solidFill>
                <a:latin typeface="Times New Roman"/>
              </a:rPr>
              <a:t>A RELIABILITY-GUIDED VIT–MAMBA FRAMEWORK WITH FACIAL LANDMARK FUSION FOR STUDENT ENGAGEMENT RECOGNITION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68BC382C-506F-4908-6AC3-C0AA73064F47}"/>
              </a:ext>
            </a:extLst>
          </p:cNvPr>
          <p:cNvSpPr txBox="1"/>
          <p:nvPr/>
        </p:nvSpPr>
        <p:spPr>
          <a:xfrm>
            <a:off x="2609088" y="3208471"/>
            <a:ext cx="7071360" cy="2039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1600" b="1" dirty="0">
                <a:solidFill>
                  <a:srgbClr val="161A1F"/>
                </a:solidFill>
                <a:latin typeface="Times New Roman"/>
              </a:rPr>
              <a:t>Team members:</a:t>
            </a:r>
            <a:endParaRPr lang="en-US" sz="1600" b="1" dirty="0">
              <a:solidFill>
                <a:srgbClr val="161A1F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800" dirty="0">
              <a:latin typeface="Times New Roman"/>
              <a:cs typeface="Times New Roman"/>
            </a:endParaRPr>
          </a:p>
          <a:p>
            <a:r>
              <a:rPr lang="en-US" sz="1600" b="0" dirty="0">
                <a:solidFill>
                  <a:srgbClr val="5A646E"/>
                </a:solidFill>
                <a:latin typeface="Times New Roman"/>
              </a:rPr>
              <a:t>ILAKKIYA S 	   23BCE2012</a:t>
            </a:r>
            <a:endParaRPr sz="1600" b="0" dirty="0">
              <a:solidFill>
                <a:srgbClr val="5A646E"/>
              </a:solidFill>
              <a:latin typeface="Times New Roman"/>
            </a:endParaRPr>
          </a:p>
          <a:p>
            <a:r>
              <a:rPr lang="en-US" sz="1600" dirty="0">
                <a:solidFill>
                  <a:srgbClr val="5A646E"/>
                </a:solidFill>
                <a:latin typeface="Times New Roman"/>
              </a:rPr>
              <a:t>ADHVAITH N A</a:t>
            </a:r>
            <a:r>
              <a:rPr sz="1600" b="0" dirty="0">
                <a:solidFill>
                  <a:srgbClr val="5A646E"/>
                </a:solidFill>
                <a:latin typeface="Times New Roman"/>
              </a:rPr>
              <a:t>           </a:t>
            </a:r>
            <a:r>
              <a:rPr lang="en-US" sz="1600" b="0" dirty="0">
                <a:solidFill>
                  <a:srgbClr val="5A646E"/>
                </a:solidFill>
                <a:latin typeface="Times New Roman"/>
              </a:rPr>
              <a:t>23BCE2064</a:t>
            </a:r>
            <a:endParaRPr sz="1600" b="0" dirty="0">
              <a:solidFill>
                <a:srgbClr val="5A646E"/>
              </a:solidFill>
              <a:latin typeface="Times New Roman"/>
            </a:endParaRPr>
          </a:p>
          <a:p>
            <a:r>
              <a:rPr lang="en-US" sz="1600" dirty="0">
                <a:solidFill>
                  <a:srgbClr val="5A646E"/>
                </a:solidFill>
                <a:latin typeface="Times New Roman"/>
              </a:rPr>
              <a:t>DON GEORGE</a:t>
            </a:r>
            <a:r>
              <a:rPr sz="1600" b="0" dirty="0">
                <a:solidFill>
                  <a:srgbClr val="5A646E"/>
                </a:solidFill>
                <a:latin typeface="Times New Roman"/>
              </a:rPr>
              <a:t>             </a:t>
            </a:r>
            <a:r>
              <a:rPr lang="en-US" sz="1600" dirty="0">
                <a:solidFill>
                  <a:srgbClr val="5A646E"/>
                </a:solidFill>
                <a:latin typeface="Times New Roman"/>
              </a:rPr>
              <a:t>23BDS0006</a:t>
            </a:r>
            <a:endParaRPr sz="1600" b="0" dirty="0">
              <a:solidFill>
                <a:srgbClr val="5A646E"/>
              </a:solidFill>
              <a:latin typeface="Times New Roman"/>
            </a:endParaRPr>
          </a:p>
          <a:p>
            <a:endParaRPr sz="1600" b="0" dirty="0">
              <a:solidFill>
                <a:srgbClr val="5A646E"/>
              </a:solidFill>
              <a:latin typeface="Times New Roman"/>
            </a:endParaRPr>
          </a:p>
          <a:p>
            <a:r>
              <a:rPr sz="1600" b="1" dirty="0">
                <a:solidFill>
                  <a:srgbClr val="161A1F"/>
                </a:solidFill>
                <a:latin typeface="Times New Roman"/>
              </a:rPr>
              <a:t>Faculty guide:</a:t>
            </a:r>
          </a:p>
          <a:p>
            <a:r>
              <a:rPr lang="en-US" sz="1600" b="0" dirty="0">
                <a:solidFill>
                  <a:srgbClr val="5A646E"/>
                </a:solidFill>
                <a:latin typeface="Times New Roman"/>
              </a:rPr>
              <a:t>DEEPIKA J</a:t>
            </a:r>
            <a:endParaRPr sz="1600" b="0" dirty="0">
              <a:solidFill>
                <a:srgbClr val="5A646E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036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CBE13-A9D6-9564-DA47-597E38E0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 Mail From Guide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27C50-3ED3-2DB6-C227-6784C6CA9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08-09-2026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4170-792F-28F8-1C31-5F7A8D69F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6528B-72DB-0275-6A94-33ABB5CD7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6560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8A428-04DA-E6A8-7606-5D2FE5F31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645920"/>
            <a:ext cx="10515600" cy="2926080"/>
          </a:xfrm>
        </p:spPr>
        <p:txBody>
          <a:bodyPr wrap="square" anchor="t">
            <a:normAutofit/>
          </a:bodyPr>
          <a:lstStyle/>
          <a:p>
            <a:pPr>
              <a:spcAft>
                <a:spcPts val="2200"/>
              </a:spcAft>
            </a:pPr>
            <a:r>
              <a:rPr sz="1900">
                <a:solidFill>
                  <a:srgbClr val="161A1F"/>
                </a:solidFill>
                <a:latin typeface="Times New Roman"/>
              </a:rPr>
              <a:t>To recognise student engagement from webcam video by measuring how reliable each observation is, and weighting frames accordingly - without ever discarding them - so that the temporal model receives an intact, uniformly spaced sequence.</a:t>
            </a:r>
          </a:p>
          <a:p>
            <a:pPr>
              <a:spcAft>
                <a:spcPts val="2200"/>
              </a:spcAft>
            </a:pPr>
            <a:r>
              <a:rPr sz="1900">
                <a:solidFill>
                  <a:srgbClr val="161A1F"/>
                </a:solidFill>
                <a:latin typeface="Times New Roman"/>
              </a:rPr>
              <a:t>Reliability is treated as an observation-quality signal, never as an engagement cue: a turned head means the evidence is weaker, not that the learner is disengaged.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27305EA-516C-11F8-8A54-2BA046094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9E6AA7-AE20-8A91-BA42-261BF76A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6562-4E3F-4038-A291-A7AE35CC3E6A}" type="datetime1">
              <a:rPr lang="en-IN" smtClean="0"/>
              <a:t>08-09-2026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FE434-77F0-B8BE-9198-66090332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D6A9DA-AEE9-F6FE-EFA8-0639631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518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D95E8-8D7C-F548-8B75-23C3B2B1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DED8F-1EBD-2E10-598E-0CA3F56F0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463040"/>
            <a:ext cx="10515600" cy="4663440"/>
          </a:xfrm>
        </p:spPr>
        <p:txBody>
          <a:bodyPr wrap="square" anchor="t">
            <a:normAutofit/>
          </a:bodyPr>
          <a:lstStyle/>
          <a:p>
            <a:pPr>
              <a:spcAft>
                <a:spcPts val="1100"/>
              </a:spcAft>
            </a:pPr>
            <a:r>
              <a:rPr sz="1500" b="1" dirty="0">
                <a:solidFill>
                  <a:srgbClr val="1F6F78"/>
                </a:solidFill>
                <a:latin typeface="Times New Roman"/>
              </a:rPr>
              <a:t>Problem: </a:t>
            </a:r>
            <a:r>
              <a:rPr lang="en-US" sz="1500" dirty="0">
                <a:solidFill>
                  <a:srgbClr val="161A1F"/>
                </a:solidFill>
                <a:latin typeface="Times New Roman"/>
              </a:rPr>
              <a:t>engagement recognition fails less because the classifier is weak than because the observations are unreliable - occlusion, blur, and faces leaving frame.</a:t>
            </a:r>
          </a:p>
          <a:p>
            <a:pPr>
              <a:spcAft>
                <a:spcPts val="1100"/>
              </a:spcAft>
            </a:pPr>
            <a:r>
              <a:rPr lang="en-US" sz="1500" b="1" dirty="0">
                <a:solidFill>
                  <a:srgbClr val="1F6F78"/>
                </a:solidFill>
                <a:latin typeface="Times New Roman"/>
              </a:rPr>
              <a:t>Conventional fix: </a:t>
            </a:r>
            <a:r>
              <a:rPr lang="en-US" sz="1500" dirty="0">
                <a:latin typeface="Times New Roman"/>
              </a:rPr>
              <a:t>discard low-quality frames. This changes the sequence length and destroys the uniform temporal spacing a sequence model depends on.</a:t>
            </a:r>
          </a:p>
          <a:p>
            <a:pPr>
              <a:spcAft>
                <a:spcPts val="1100"/>
              </a:spcAft>
            </a:pPr>
            <a:r>
              <a:rPr lang="en-US" sz="1500" b="1" dirty="0">
                <a:solidFill>
                  <a:srgbClr val="1F6F78"/>
                </a:solidFill>
                <a:latin typeface="Times New Roman"/>
              </a:rPr>
              <a:t>This work: </a:t>
            </a:r>
            <a:r>
              <a:rPr lang="en-US" sz="1500" dirty="0">
                <a:solidFill>
                  <a:srgbClr val="161A1F"/>
                </a:solidFill>
                <a:latin typeface="Times New Roman"/>
              </a:rPr>
              <a:t>a per-frame Motion Reliability Score (MRS) from five observation-quality signals, applied as a soft weight in place of a hard gate, so every frame keeps its position in the sequence.</a:t>
            </a:r>
          </a:p>
          <a:p>
            <a:pPr>
              <a:spcAft>
                <a:spcPts val="1100"/>
              </a:spcAft>
            </a:pPr>
            <a:r>
              <a:rPr lang="en-US" sz="1500" b="1" dirty="0">
                <a:solidFill>
                  <a:srgbClr val="1F6F78"/>
                </a:solidFill>
                <a:latin typeface="Times New Roman"/>
              </a:rPr>
              <a:t>Architecture: </a:t>
            </a:r>
            <a:r>
              <a:rPr lang="en-US" sz="1500" dirty="0">
                <a:solidFill>
                  <a:srgbClr val="161A1F"/>
                </a:solidFill>
                <a:latin typeface="Times New Roman"/>
              </a:rPr>
              <a:t>frozen </a:t>
            </a:r>
            <a:r>
              <a:rPr lang="en-US" sz="1500" dirty="0" err="1">
                <a:solidFill>
                  <a:srgbClr val="161A1F"/>
                </a:solidFill>
                <a:latin typeface="Times New Roman"/>
              </a:rPr>
              <a:t>ViT</a:t>
            </a:r>
            <a:r>
              <a:rPr lang="en-US" sz="1500" dirty="0">
                <a:solidFill>
                  <a:srgbClr val="161A1F"/>
                </a:solidFill>
                <a:latin typeface="Times New Roman"/>
              </a:rPr>
              <a:t>-B/16 per frame -&gt; MRS weighting -&gt; Mamba selective state-space temporal encoder -&gt; fusion with a </a:t>
            </a:r>
            <a:r>
              <a:rPr lang="en-US" sz="1500" dirty="0" err="1">
                <a:solidFill>
                  <a:srgbClr val="161A1F"/>
                </a:solidFill>
                <a:latin typeface="Times New Roman"/>
              </a:rPr>
              <a:t>MediaPipe</a:t>
            </a:r>
            <a:r>
              <a:rPr lang="en-US" sz="1500" dirty="0">
                <a:solidFill>
                  <a:srgbClr val="161A1F"/>
                </a:solidFill>
                <a:latin typeface="Times New Roman"/>
              </a:rPr>
              <a:t> geometric/</a:t>
            </a:r>
            <a:r>
              <a:rPr lang="en-US" sz="1500" dirty="0" err="1">
                <a:solidFill>
                  <a:srgbClr val="161A1F"/>
                </a:solidFill>
                <a:latin typeface="Times New Roman"/>
              </a:rPr>
              <a:t>blendshape</a:t>
            </a:r>
            <a:r>
              <a:rPr lang="en-US" sz="1500" dirty="0">
                <a:solidFill>
                  <a:srgbClr val="161A1F"/>
                </a:solidFill>
                <a:latin typeface="Times New Roman"/>
              </a:rPr>
              <a:t> branch -&gt; 4-class MLP.</a:t>
            </a:r>
          </a:p>
          <a:p>
            <a:pPr>
              <a:spcAft>
                <a:spcPts val="1100"/>
              </a:spcAft>
            </a:pPr>
            <a:r>
              <a:rPr lang="en-US" sz="1500" b="1" dirty="0">
                <a:solidFill>
                  <a:srgbClr val="1F6F78"/>
                </a:solidFill>
                <a:latin typeface="Times New Roman"/>
              </a:rPr>
              <a:t>Novelty: </a:t>
            </a:r>
            <a:r>
              <a:rPr lang="en-US" sz="1500" dirty="0">
                <a:solidFill>
                  <a:srgbClr val="161A1F"/>
                </a:solidFill>
                <a:latin typeface="Times New Roman"/>
              </a:rPr>
              <a:t>the five MRS weights start at 0.20 each and are learned by gradient descent. Because the components are label-free by construction, the learned head-pose weight doubles as a leakage test - it fell from 0.200 to 0.056 rather than rising.</a:t>
            </a:r>
          </a:p>
          <a:p>
            <a:pPr>
              <a:spcAft>
                <a:spcPts val="1100"/>
              </a:spcAft>
            </a:pPr>
            <a:r>
              <a:rPr sz="1500" b="1" dirty="0">
                <a:solidFill>
                  <a:srgbClr val="1F6F78"/>
                </a:solidFill>
                <a:latin typeface="Times New Roman"/>
              </a:rPr>
              <a:t>Result: </a:t>
            </a:r>
            <a:r>
              <a:rPr lang="en-US" sz="1500" dirty="0">
                <a:solidFill>
                  <a:srgbClr val="161A1F"/>
                </a:solidFill>
                <a:latin typeface="Times New Roman"/>
              </a:rPr>
              <a:t>38.75% validation accuracy vs a 25% chance baseline on a balanced, subject-disjoint partition (binomial p = 0.0046). Under controlled degradation MRS falls from 0.657 to 0.484, confirming it measures observation quality.</a:t>
            </a:r>
            <a:endParaRPr sz="1500" dirty="0">
              <a:solidFill>
                <a:srgbClr val="161A1F"/>
              </a:solidFill>
              <a:latin typeface="Times New Roman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156C6ACB-BF9E-DB99-B99C-4896C65273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D067F-DF0A-3BD2-0B9E-C22E39B7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1D5D-2F82-4210-B67C-C3AADE7FED47}" type="datetime1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FD8C3-C2D0-4BBB-7FD8-43FE2C08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9991A-41D4-F0AB-EF39-ACE70C81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097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0AE58-8206-476A-BECC-A1ADC0E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435FB437-6170-6BA2-1A38-A902855A3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056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13BC6E0-D294-E70D-8B27-13FBFEE5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193B-09C0-4C85-858C-650926A9B146}" type="datetime1">
              <a:rPr lang="en-IN" smtClean="0"/>
              <a:t>08-09-2026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F284BA2-3334-3EC1-0E81-4C90958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8F14EB-D02F-8EDE-87F4-A3F7E8D2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298448"/>
          <a:ext cx="11247120" cy="431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Paper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Objective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Methodology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Pros / Cons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Findings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161A1F"/>
                          </a:solidFill>
                          <a:latin typeface="Times New Roman"/>
                        </a:rPr>
                        <a:t>DAiSEE: Towards User Engagement Recognition in the Wild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5A646E"/>
                          </a:solidFill>
                          <a:latin typeface="Times New Roman"/>
                        </a:rPr>
                        <a:t>Gupta et al., 2016  [1]</a:t>
                      </a:r>
                    </a:p>
                  </a:txBody>
                  <a:tcPr marL="54864" marR="54864" marT="27432" marB="27432" anchor="t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Benchmark engagement in the wild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9,068 webcam clips, 112 subjects; 4 affective states at 4 intensity levels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+ realistic uncontrolled capture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- severely imbalanced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Accuracy alone is inadequate; macro-F1 and a balanced subset are needed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161A1F"/>
                          </a:solidFill>
                          <a:latin typeface="Times New Roman"/>
                        </a:rPr>
                        <a:t>LRCN; C3D; TimeSformer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5A646E"/>
                          </a:solidFill>
                          <a:latin typeface="Times New Roman"/>
                        </a:rPr>
                        <a:t>Donahue et al., 2015 [3]; Tran et al., 2015 [4]; Bertasius et al., 2021 [5]</a:t>
                      </a:r>
                    </a:p>
                  </a:txBody>
                  <a:tcPr marL="54864" marR="54864" marT="27432" marB="27432" anchor="t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Treat engagement as a sequence, not a still image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CNN features fed to an LSTM; 3D convolution; frame-wise self-attention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+ captures long-range context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- attention is quadratic in clip length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Temporal context helps, but cost grows quickly with the frame count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161A1F"/>
                          </a:solidFill>
                          <a:latin typeface="Times New Roman"/>
                        </a:rPr>
                        <a:t>Mamba; Vision Mamba (Vim)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5A646E"/>
                          </a:solidFill>
                          <a:latin typeface="Times New Roman"/>
                        </a:rPr>
                        <a:t>Gu &amp; Dao, 2023 [6];  Zhu et al., 2024 [7]</a:t>
                      </a:r>
                    </a:p>
                  </a:txBody>
                  <a:tcPr marL="54864" marR="54864" marT="27432" marB="27432" anchor="t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Linear-time sequence modelling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Selective state-space model with input-dependent parameters; Vim scans image patches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+ linear time, selective memory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- applied spatially, not across frames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Motivates scanning across frame embeddings, which is what this work does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161A1F"/>
                          </a:solidFill>
                          <a:latin typeface="Times New Roman"/>
                        </a:rPr>
                        <a:t>MediaPipe; Face Mesh; BlazeFace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5A646E"/>
                          </a:solidFill>
                          <a:latin typeface="Times New Roman"/>
                        </a:rPr>
                        <a:t>Lugaresi et al., 2019 [9]; Kartynnik et al., 2019 [10]; Bazarevsky et al., 2019 [11]</a:t>
                      </a:r>
                    </a:p>
                  </a:txBody>
                  <a:tcPr marL="54864" marR="54864" marT="27432" marB="27432" anchor="t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Recover face geometry without a separate AU model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BlazeFace detection; 478 landmarks with iris refinement; 52 ARKit blendshapes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+ real-time, AU-like semantics for free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- degrades under occlusion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Supplies the geometric branch and four of the five MRS inputs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161A1F"/>
                          </a:solidFill>
                          <a:latin typeface="Times New Roman"/>
                        </a:rPr>
                        <a:t>Variance of the Laplacian; SER-FIQ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5A646E"/>
                          </a:solidFill>
                          <a:latin typeface="Times New Roman"/>
                        </a:rPr>
                        <a:t>Pech-Pacheco et al., 2000 [12];  Terhörst et al., 2020 [13]</a:t>
                      </a:r>
                    </a:p>
                  </a:txBody>
                  <a:tcPr marL="54864" marR="54864" marT="27432" marB="27432" anchor="t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Estimate how usable an observation is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Variance-of-Laplacian sharpness; SER-FIQ embedding-robustness quality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+ label-free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- used to filter frames out, not to weight them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The gap addressed here: quality as a soft per-frame weight inside the model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7449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64C5E-26B3-2EE9-895A-F822E4C4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F8AC8-6380-9217-CA4C-1FBF1C25C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554480"/>
            <a:ext cx="10515600" cy="4480560"/>
          </a:xfrm>
        </p:spPr>
        <p:txBody>
          <a:bodyPr wrap="square" anchor="t">
            <a:normAutofit/>
          </a:bodyPr>
          <a:lstStyle/>
          <a:p>
            <a:pPr>
              <a:spcAft>
                <a:spcPts val="2000"/>
              </a:spcAft>
            </a:pPr>
            <a:r>
              <a:rPr sz="1600" b="1">
                <a:solidFill>
                  <a:srgbClr val="1F6F78"/>
                </a:solidFill>
                <a:latin typeface="Times New Roman"/>
              </a:rPr>
              <a:t>1.  Reliability is used as a gate, not a weight. </a:t>
            </a:r>
            <a:r>
              <a:rPr sz="1600">
                <a:solidFill>
                  <a:srgbClr val="161A1F"/>
                </a:solidFill>
                <a:latin typeface="Times New Roman"/>
              </a:rPr>
              <a:t>Existing quality-aware pipelines threshold frame quality and delete frames below it. For a temporal model this is self-defeating: the sequence length changes, the gaps close, and a degraded clip is no longer comparable to a clean one.</a:t>
            </a:r>
          </a:p>
          <a:p>
            <a:pPr>
              <a:spcAft>
                <a:spcPts val="2000"/>
              </a:spcAft>
            </a:pPr>
            <a:r>
              <a:rPr sz="1600" b="1">
                <a:solidFill>
                  <a:srgbClr val="1F6F78"/>
                </a:solidFill>
                <a:latin typeface="Times New Roman"/>
              </a:rPr>
              <a:t>2.  Reliability weights are asserted, not learned. </a:t>
            </a:r>
            <a:r>
              <a:rPr sz="1600">
                <a:solidFill>
                  <a:srgbClr val="161A1F"/>
                </a:solidFill>
                <a:latin typeface="Times New Roman"/>
              </a:rPr>
              <a:t>Where multi-factor quality scores exist, the relative importance of the factors is fixed by hand - usually uniform. Whether blur, occlusion, head rotation and motion deserve equal influence is an empirical question that is rarely asked.</a:t>
            </a:r>
          </a:p>
          <a:p>
            <a:pPr>
              <a:spcAft>
                <a:spcPts val="2000"/>
              </a:spcAft>
            </a:pPr>
            <a:r>
              <a:rPr sz="1600" b="1">
                <a:solidFill>
                  <a:srgbClr val="1F6F78"/>
                </a:solidFill>
                <a:latin typeface="Times New Roman"/>
              </a:rPr>
              <a:t>3.  Reliability and behaviour are conflated. </a:t>
            </a:r>
            <a:r>
              <a:rPr sz="1600">
                <a:solidFill>
                  <a:srgbClr val="161A1F"/>
                </a:solidFill>
                <a:latin typeface="Times New Roman"/>
              </a:rPr>
              <a:t>Head rotation and eye closure are often read as disengagement. A turned head means the frontal evidence is weaker; a blink is normal behaviour. A score contaminated by the label is no longer a reliability score.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430A72-466B-CBDE-2F02-635BA91A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E986A-8308-4C4E-A0F3-DDD9B5B25762}" type="datetime1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1DDA3-7A7C-1F61-1795-3A01ED678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E3226-1DB1-3A4D-CE37-4A2AD48E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102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50AAC-0156-D6F5-7153-C7919999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3ADE1-559A-2DC2-A801-6A915E106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371600"/>
            <a:ext cx="10515600" cy="2926080"/>
          </a:xfrm>
        </p:spPr>
        <p:txBody>
          <a:bodyPr wrap="square" anchor="t">
            <a:normAutofit/>
          </a:bodyPr>
          <a:lstStyle/>
          <a:p>
            <a:pPr>
              <a:spcAft>
                <a:spcPts val="700"/>
              </a:spcAft>
            </a:pPr>
            <a:r>
              <a:rPr sz="1350" b="1" dirty="0">
                <a:solidFill>
                  <a:srgbClr val="1F6F78"/>
                </a:solidFill>
                <a:latin typeface="Times New Roman"/>
              </a:rPr>
              <a:t>O1  </a:t>
            </a:r>
            <a:r>
              <a:rPr sz="1350" dirty="0">
                <a:solidFill>
                  <a:srgbClr val="161A1F"/>
                </a:solidFill>
                <a:latin typeface="Times New Roman"/>
              </a:rPr>
              <a:t>Verified DAiSEE pipeline - official split, subject </a:t>
            </a:r>
            <a:r>
              <a:rPr sz="1350" dirty="0" err="1">
                <a:solidFill>
                  <a:srgbClr val="161A1F"/>
                </a:solidFill>
                <a:latin typeface="Times New Roman"/>
              </a:rPr>
              <a:t>disjointness</a:t>
            </a:r>
            <a:r>
              <a:rPr sz="1350" dirty="0">
                <a:solidFill>
                  <a:srgbClr val="161A1F"/>
                </a:solidFill>
                <a:latin typeface="Times New Roman"/>
              </a:rPr>
              <a:t> measured and confirmed zero.</a:t>
            </a:r>
          </a:p>
          <a:p>
            <a:pPr>
              <a:spcAft>
                <a:spcPts val="700"/>
              </a:spcAft>
            </a:pPr>
            <a:r>
              <a:rPr sz="1350" b="1" dirty="0">
                <a:solidFill>
                  <a:srgbClr val="1F6F78"/>
                </a:solidFill>
                <a:latin typeface="Times New Roman"/>
              </a:rPr>
              <a:t>O2  </a:t>
            </a:r>
            <a:r>
              <a:rPr sz="1350" dirty="0">
                <a:solidFill>
                  <a:srgbClr val="161A1F"/>
                </a:solidFill>
                <a:latin typeface="Times New Roman"/>
              </a:rPr>
              <a:t>Five-component MRS in [0,1], computed only from observation quality.</a:t>
            </a:r>
          </a:p>
          <a:p>
            <a:pPr>
              <a:spcAft>
                <a:spcPts val="700"/>
              </a:spcAft>
            </a:pPr>
            <a:r>
              <a:rPr sz="1350" b="1" dirty="0">
                <a:solidFill>
                  <a:srgbClr val="1F6F78"/>
                </a:solidFill>
                <a:latin typeface="Times New Roman"/>
              </a:rPr>
              <a:t>O3  </a:t>
            </a:r>
            <a:r>
              <a:rPr sz="1350" dirty="0">
                <a:solidFill>
                  <a:srgbClr val="161A1F"/>
                </a:solidFill>
                <a:latin typeface="Times New Roman"/>
              </a:rPr>
              <a:t>Integrate MRS into </a:t>
            </a:r>
            <a:r>
              <a:rPr sz="1350" dirty="0" err="1">
                <a:solidFill>
                  <a:srgbClr val="161A1F"/>
                </a:solidFill>
                <a:latin typeface="Times New Roman"/>
              </a:rPr>
              <a:t>ViT</a:t>
            </a:r>
            <a:r>
              <a:rPr sz="1350" dirty="0">
                <a:solidFill>
                  <a:srgbClr val="161A1F"/>
                </a:solidFill>
                <a:latin typeface="Times New Roman"/>
              </a:rPr>
              <a:t> + Mamba so temporal positions are provably preserved.</a:t>
            </a:r>
          </a:p>
          <a:p>
            <a:pPr>
              <a:spcAft>
                <a:spcPts val="700"/>
              </a:spcAft>
            </a:pPr>
            <a:r>
              <a:rPr sz="1350" b="1" dirty="0">
                <a:solidFill>
                  <a:srgbClr val="1F6F78"/>
                </a:solidFill>
                <a:latin typeface="Times New Roman"/>
              </a:rPr>
              <a:t>O4  </a:t>
            </a:r>
            <a:r>
              <a:rPr sz="1350" dirty="0">
                <a:solidFill>
                  <a:srgbClr val="161A1F"/>
                </a:solidFill>
                <a:latin typeface="Times New Roman"/>
              </a:rPr>
              <a:t>Learn the five MRS weights from a 0.20 </a:t>
            </a:r>
            <a:r>
              <a:rPr sz="1350" dirty="0" err="1">
                <a:solidFill>
                  <a:srgbClr val="161A1F"/>
                </a:solidFill>
                <a:latin typeface="Times New Roman"/>
              </a:rPr>
              <a:t>initialisation</a:t>
            </a:r>
            <a:r>
              <a:rPr sz="1350" dirty="0">
                <a:solidFill>
                  <a:srgbClr val="161A1F"/>
                </a:solidFill>
                <a:latin typeface="Times New Roman"/>
              </a:rPr>
              <a:t> instead of fixing them.</a:t>
            </a:r>
          </a:p>
          <a:p>
            <a:pPr>
              <a:spcAft>
                <a:spcPts val="700"/>
              </a:spcAft>
            </a:pPr>
            <a:r>
              <a:rPr sz="1350" b="1" dirty="0">
                <a:solidFill>
                  <a:srgbClr val="1F6F78"/>
                </a:solidFill>
                <a:latin typeface="Times New Roman"/>
              </a:rPr>
              <a:t>O5  </a:t>
            </a:r>
            <a:r>
              <a:rPr sz="1350" dirty="0">
                <a:solidFill>
                  <a:srgbClr val="161A1F"/>
                </a:solidFill>
                <a:latin typeface="Times New Roman"/>
              </a:rPr>
              <a:t>Fuse a </a:t>
            </a:r>
            <a:r>
              <a:rPr sz="1350" dirty="0" err="1">
                <a:solidFill>
                  <a:srgbClr val="161A1F"/>
                </a:solidFill>
                <a:latin typeface="Times New Roman"/>
              </a:rPr>
              <a:t>MediaPipe</a:t>
            </a:r>
            <a:r>
              <a:rPr sz="1350" dirty="0">
                <a:solidFill>
                  <a:srgbClr val="161A1F"/>
                </a:solidFill>
                <a:latin typeface="Times New Roman"/>
              </a:rPr>
              <a:t> geometric/</a:t>
            </a:r>
            <a:r>
              <a:rPr sz="1350" dirty="0" err="1">
                <a:solidFill>
                  <a:srgbClr val="161A1F"/>
                </a:solidFill>
                <a:latin typeface="Times New Roman"/>
              </a:rPr>
              <a:t>behavioural</a:t>
            </a:r>
            <a:r>
              <a:rPr sz="1350" dirty="0">
                <a:solidFill>
                  <a:srgbClr val="161A1F"/>
                </a:solidFill>
                <a:latin typeface="Times New Roman"/>
              </a:rPr>
              <a:t> branch; fit all statistics on train only.</a:t>
            </a:r>
          </a:p>
          <a:p>
            <a:pPr>
              <a:spcAft>
                <a:spcPts val="700"/>
              </a:spcAft>
            </a:pPr>
            <a:r>
              <a:rPr sz="1350" b="1" dirty="0">
                <a:solidFill>
                  <a:srgbClr val="1F6F78"/>
                </a:solidFill>
                <a:latin typeface="Times New Roman"/>
              </a:rPr>
              <a:t>O6  </a:t>
            </a:r>
            <a:r>
              <a:rPr sz="1350" dirty="0">
                <a:solidFill>
                  <a:srgbClr val="161A1F"/>
                </a:solidFill>
                <a:latin typeface="Times New Roman"/>
              </a:rPr>
              <a:t>Evaluate against explicit chance and majority baselines with significance testing.</a:t>
            </a:r>
          </a:p>
          <a:p>
            <a:pPr>
              <a:spcAft>
                <a:spcPts val="700"/>
              </a:spcAft>
            </a:pPr>
            <a:r>
              <a:rPr sz="1350" b="1" dirty="0">
                <a:solidFill>
                  <a:srgbClr val="1F6F78"/>
                </a:solidFill>
                <a:latin typeface="Times New Roman"/>
              </a:rPr>
              <a:t>O7  </a:t>
            </a:r>
            <a:r>
              <a:rPr sz="1350" dirty="0">
                <a:solidFill>
                  <a:srgbClr val="161A1F"/>
                </a:solidFill>
                <a:latin typeface="Times New Roman"/>
              </a:rPr>
              <a:t>SHAP attribution grouped into interpretable facial feature families.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2BADD22-870A-4D8F-B788-CCCD5C223F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E4F0EB-E8F1-14D8-E22A-38E83F9B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08-09-2026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8B93F-BA73-08B5-E0DD-D434FA25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ABF72-E9F9-626A-63CD-EA20C071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632EBB-2D05-8D00-7F98-43CBAFAF06ED}"/>
              </a:ext>
            </a:extLst>
          </p:cNvPr>
          <p:cNvSpPr txBox="1"/>
          <p:nvPr/>
        </p:nvSpPr>
        <p:spPr>
          <a:xfrm>
            <a:off x="460248" y="4413148"/>
            <a:ext cx="115234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Identified:   4	|			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TRL - 3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3 The UN 17 Sustainable Development Goals (SDGs), implemented by all... | Download Scientific Diagram">
            <a:extLst>
              <a:ext uri="{FF2B5EF4-FFF2-40B4-BE49-F238E27FC236}">
                <a16:creationId xmlns:a16="http://schemas.microsoft.com/office/drawing/2014/main" id="{36180A9B-AA72-E2D6-8362-4CDF7058D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697361"/>
            <a:ext cx="1968651" cy="1578077"/>
          </a:xfrm>
          <a:prstGeom prst="rect">
            <a:avLst/>
          </a:prstGeom>
        </p:spPr>
      </p:pic>
      <p:pic>
        <p:nvPicPr>
          <p:cNvPr id="9" name="Picture 8" descr="What are Technology Readiness Levels (TRL)? - TWI">
            <a:extLst>
              <a:ext uri="{FF2B5EF4-FFF2-40B4-BE49-F238E27FC236}">
                <a16:creationId xmlns:a16="http://schemas.microsoft.com/office/drawing/2014/main" id="{D1491C9C-07B3-89C3-5FA0-72C9F44F3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973" y="4306261"/>
            <a:ext cx="2447027" cy="223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962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49C0F-2490-21B4-8186-6F75540A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5DE9EA00-8D77-8DC9-1AE3-8B6FD1AF6B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Framework/Architecture/Block Diagram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40592E-46EE-B4F2-7D01-D3568C2F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08-09-2026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DC439-5940-84EE-247A-E3018795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B23C8-7091-8CFB-BF2C-3A19CCA8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fi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8519" y="1371600"/>
            <a:ext cx="5364480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897880"/>
            <a:ext cx="11064240" cy="31089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buNone/>
            </a:pPr>
            <a:r>
              <a:rPr sz="1200" b="0" i="1">
                <a:solidFill>
                  <a:srgbClr val="5A646E"/>
                </a:solidFill>
                <a:latin typeface="Times New Roman"/>
              </a:rPr>
              <a:t>Frozen ViT-B/16 per frame  |  MRS weighting  |  2 x Mamba temporal encoder  |  MediaPipe branch  |  fusion -&gt; 4-class MLP</a:t>
            </a:r>
          </a:p>
        </p:txBody>
      </p:sp>
    </p:spTree>
    <p:extLst>
      <p:ext uri="{BB962C8B-B14F-4D97-AF65-F5344CB8AC3E}">
        <p14:creationId xmlns:p14="http://schemas.microsoft.com/office/powerpoint/2010/main" val="63813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95AF1-B807-AC15-9C1A-B86677AF6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324FF-B70A-2FC0-8FD0-C802E31DD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463040"/>
            <a:ext cx="10515600" cy="4663440"/>
          </a:xfrm>
        </p:spPr>
        <p:txBody>
          <a:bodyPr wrap="square" anchor="t">
            <a:normAutofit/>
          </a:bodyPr>
          <a:lstStyle/>
          <a:p>
            <a:pPr>
              <a:spcAft>
                <a:spcPts val="10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FR-1 to FR-5   Dataset audit: </a:t>
            </a:r>
            <a:r>
              <a:rPr sz="1350">
                <a:solidFill>
                  <a:srgbClr val="161A1F"/>
                </a:solidFill>
                <a:latin typeface="Times New Roman"/>
              </a:rPr>
              <a:t>parse labels, join every clip, decode-probe each video, derive subject IDs, and refuse to proceed on any split overlap.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FR-6 to FR-8   Sampling: </a:t>
            </a:r>
            <a:r>
              <a:rPr sz="1350">
                <a:solidFill>
                  <a:srgbClr val="161A1F"/>
                </a:solidFill>
                <a:latin typeface="Times New Roman"/>
              </a:rPr>
              <a:t>T uniformly spaced frames per clip (T configurable over 8/16/32/64), deterministic, always exactly T frames returned.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FR-9 to FR-12  Face processing: </a:t>
            </a:r>
            <a:r>
              <a:rPr sz="1350">
                <a:solidFill>
                  <a:srgbClr val="161A1F"/>
                </a:solidFill>
                <a:latin typeface="Times New Roman"/>
              </a:rPr>
              <a:t>detect, roll-align on eye keypoints, pad and resize; on detection failure fall through a recorded chain - never drop the frame.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FR-13 to FR-17 Reliability: </a:t>
            </a:r>
            <a:r>
              <a:rPr sz="1350">
                <a:solidFill>
                  <a:srgbClr val="161A1F"/>
                </a:solidFill>
                <a:latin typeface="Times New Roman"/>
              </a:rPr>
              <a:t>five components each in [0,1]; calibration fitted on the training split only; no engagement label may participate.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FR-18 to FR-21 Features: </a:t>
            </a:r>
            <a:r>
              <a:rPr sz="1350">
                <a:solidFill>
                  <a:srgbClr val="161A1F"/>
                </a:solidFill>
                <a:latin typeface="Times New Roman"/>
              </a:rPr>
              <a:t>frozen ViT embedding (dimension discovered, not assumed); 478 landmarks + 52 blendshapes + head pose -&gt; fixed-width vector.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FR-22 to FR-26 Model: </a:t>
            </a:r>
            <a:r>
              <a:rPr sz="1350">
                <a:solidFill>
                  <a:srgbClr val="161A1F"/>
                </a:solidFill>
                <a:latin typeface="Times New Roman"/>
              </a:rPr>
              <a:t>apply MRS without altering temporal order; Mamba encoder; pool; fuse after separate normalisation; output 4 logits.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FR-27 to FR-32 Learning: </a:t>
            </a:r>
            <a:r>
              <a:rPr sz="1350">
                <a:solidFill>
                  <a:srgbClr val="161A1F"/>
                </a:solidFill>
                <a:latin typeface="Times New Roman"/>
              </a:rPr>
              <a:t>MRS weights initialised at 0.20 and learned; checkpoint selected on validation macro-F1, never on test.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C9A0194-5820-F292-3A94-449C000E5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F25267-3005-EC45-A624-B78484DFA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08-09-2026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022FF-AD0C-E15E-5F17-B2827B55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D6198-8B2C-26FB-53D2-A5B87C95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299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2F2ED-50F9-3DFA-95BB-1A1059C5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F2560-A5FE-A724-8F39-E7E901E8F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463040"/>
            <a:ext cx="10515600" cy="4663440"/>
          </a:xfrm>
        </p:spPr>
        <p:txBody>
          <a:bodyPr wrap="square" anchor="t">
            <a:normAutofit/>
          </a:bodyPr>
          <a:lstStyle/>
          <a:p>
            <a:pPr>
              <a:spcAft>
                <a:spcPts val="10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M1  Dataset index and audit  </a:t>
            </a:r>
            <a:r>
              <a:rPr sz="1350">
                <a:solidFill>
                  <a:srgbClr val="161A1F"/>
                </a:solidFill>
                <a:latin typeface="Times New Roman"/>
              </a:rPr>
              <a:t>- resolves clips, joins labels, verifies subject disjointness.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M2  Video sampling  </a:t>
            </a:r>
            <a:r>
              <a:rPr sz="1350">
                <a:solidFill>
                  <a:srgbClr val="161A1F"/>
                </a:solidFill>
                <a:latin typeface="Times New Roman"/>
              </a:rPr>
              <a:t>- uniform index rule, full sequential decode (seeking returns wrong frames).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M3  Face processing  </a:t>
            </a:r>
            <a:r>
              <a:rPr sz="1350">
                <a:solidFill>
                  <a:srgbClr val="161A1F"/>
                </a:solidFill>
                <a:latin typeface="Times New Roman"/>
              </a:rPr>
              <a:t>- MediaPipe BlazeFace detection, roll alignment, padded crop.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M4  Landmark extraction  </a:t>
            </a:r>
            <a:r>
              <a:rPr sz="1350">
                <a:solidFill>
                  <a:srgbClr val="161A1F"/>
                </a:solidFill>
                <a:latin typeface="Times New Roman"/>
              </a:rPr>
              <a:t>- 478 points, 52 blendshapes, 4x4 pose -&gt; 28 geometric + 52 = 80/frame.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M5  Reliability scoring  </a:t>
            </a:r>
            <a:r>
              <a:rPr sz="1350">
                <a:solidFill>
                  <a:srgbClr val="161A1F"/>
                </a:solidFill>
                <a:latin typeface="Times New Roman"/>
              </a:rPr>
              <a:t>- five components; blur and face-size percentile-calibrated on train.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M6  ViT encoder  </a:t>
            </a:r>
            <a:r>
              <a:rPr sz="1350">
                <a:solidFill>
                  <a:srgbClr val="161A1F"/>
                </a:solidFill>
                <a:latin typeface="Times New Roman"/>
              </a:rPr>
              <a:t>- frozen backbone, batched [B,T,C,H,W] -&gt; [B,T,768], cached to disk.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M7  Temporal encoder  </a:t>
            </a:r>
            <a:r>
              <a:rPr sz="1350">
                <a:solidFill>
                  <a:srgbClr val="161A1F"/>
                </a:solidFill>
                <a:latin typeface="Times New Roman"/>
              </a:rPr>
              <a:t>- vendored Mamba reference; MRS weighting + reliability-weighted pooling.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M8  Fusion and classifier  </a:t>
            </a:r>
            <a:r>
              <a:rPr sz="1350">
                <a:solidFill>
                  <a:srgbClr val="161A1F"/>
                </a:solidFill>
                <a:latin typeface="Times New Roman"/>
              </a:rPr>
              <a:t>- per-branch normalise, project to 256, concat 512 -&gt; MLP -&gt; 4.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M9  Evaluation and explainability  </a:t>
            </a:r>
            <a:r>
              <a:rPr sz="1350">
                <a:solidFill>
                  <a:srgbClr val="161A1F"/>
                </a:solidFill>
                <a:latin typeface="Times New Roman"/>
              </a:rPr>
              <a:t>- metrics, baselines, significance, SHAP attribution.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27DA514-48FC-4BF4-8205-DE21D456C5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4A04E0-6631-130F-A154-C85D978EA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08-09-2026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15995-EDEB-C984-B852-1229C23B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F5109-389C-3E37-E553-A559233E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870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556E8-0003-02C5-D37D-A5CC4CE44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67973-736B-B05D-D378-DA7CBE3EB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371600"/>
            <a:ext cx="10515600" cy="2103120"/>
          </a:xfrm>
        </p:spPr>
        <p:txBody>
          <a:bodyPr wrap="square" anchor="t">
            <a:norm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F6F78"/>
                </a:solidFill>
                <a:latin typeface="Times New Roman"/>
              </a:rPr>
              <a:t>Setup  </a:t>
            </a:r>
            <a:r>
              <a:rPr sz="1500">
                <a:solidFill>
                  <a:srgbClr val="161A1F"/>
                </a:solidFill>
                <a:latin typeface="Times New Roman"/>
              </a:rPr>
              <a:t>- 216 DAiSEE clips, class-balanced (54 per class), subject-disjoint. 120 train / 80 validation / 16 test, from 48 / 17 / 11 distinct participants. All 216 decode; subject overlap between every pair of splits is zero.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78"/>
                </a:solidFill>
                <a:latin typeface="Times New Roman"/>
              </a:rPr>
              <a:t>Training  </a:t>
            </a:r>
            <a:r>
              <a:rPr sz="1500">
                <a:solidFill>
                  <a:srgbClr val="161A1F"/>
                </a:solidFill>
                <a:latin typeface="Times New Roman"/>
              </a:rPr>
              <a:t>- 64 epochs, AdamW, lr 3e-4 cosine, batch 8, class-weighted cross-entropy. MRS weights on a separate lr of 2e-2. Checkpoint chosen by validation macro-F1 (epoch 11).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78"/>
                </a:solidFill>
                <a:latin typeface="Times New Roman"/>
              </a:rPr>
              <a:t>Baseline  </a:t>
            </a:r>
            <a:r>
              <a:rPr sz="1500">
                <a:solidFill>
                  <a:srgbClr val="161A1F"/>
                </a:solidFill>
                <a:latin typeface="Times New Roman"/>
              </a:rPr>
              <a:t>- every split is balanced, so chance accuracy is exactly 25%.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and Results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08-09-2026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371600" y="3703320"/>
          <a:ext cx="94183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latin typeface="Times New Roman"/>
                        </a:rPr>
                        <a:t>Split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latin typeface="Times New Roman"/>
                        </a:rPr>
                        <a:t>Clips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latin typeface="Times New Roman"/>
                        </a:rPr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latin typeface="Times New Roman"/>
                        </a:rPr>
                        <a:t>Weighted 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latin typeface="Times New Roman"/>
                        </a:rPr>
                        <a:t>Macro 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latin typeface="Times New Roman"/>
                        </a:rPr>
                        <a:t>Chance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latin typeface="Times New Roman"/>
                        </a:rPr>
                        <a:t>Validation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Times New Roman"/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Times New Roman"/>
                        </a:rPr>
                        <a:t>0.3875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Times New Roman"/>
                        </a:rPr>
                        <a:t>0.3714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Times New Roman"/>
                        </a:rPr>
                        <a:t>0.3714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Times New Roman"/>
                        </a:rPr>
                        <a:t>0.2500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latin typeface="Times New Roman"/>
                        </a:rPr>
                        <a:t>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Times New Roman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Times New Roman"/>
                        </a:rPr>
                        <a:t>0.3750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Times New Roman"/>
                        </a:rPr>
                        <a:t>0.3915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Times New Roman"/>
                        </a:rPr>
                        <a:t>0.3915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Times New Roman"/>
                        </a:rPr>
                        <a:t>0.2500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4983480"/>
            <a:ext cx="10515600" cy="3657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buNone/>
            </a:pPr>
            <a:r>
              <a:rPr sz="1200" b="0" i="1">
                <a:solidFill>
                  <a:srgbClr val="5A646E"/>
                </a:solidFill>
                <a:latin typeface="Times New Roman"/>
              </a:rPr>
              <a:t>Validation: 31/80 correct, one-sided binomial p = 0.0046 (significant). Test (16 clips) p = 0.19 - directionally consistent but underpowered.</a:t>
            </a:r>
          </a:p>
        </p:txBody>
      </p:sp>
    </p:spTree>
    <p:extLst>
      <p:ext uri="{BB962C8B-B14F-4D97-AF65-F5344CB8AC3E}">
        <p14:creationId xmlns:p14="http://schemas.microsoft.com/office/powerpoint/2010/main" val="3666188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76656"/>
            <a:ext cx="10515600" cy="576072"/>
          </a:xfrm>
        </p:spPr>
        <p:txBody>
          <a:bodyPr wrap="square"/>
          <a:lstStyle/>
          <a:p>
            <a:pPr>
              <a:buNone/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Experiments and Results - Training Behaviour</a:t>
            </a:r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08-09-2026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fig1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8081" y="1325880"/>
            <a:ext cx="6865357" cy="2103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456432"/>
            <a:ext cx="11155680" cy="29260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buNone/>
            </a:pPr>
            <a:r>
              <a:rPr sz="1100" b="0" i="1">
                <a:solidFill>
                  <a:srgbClr val="5A646E"/>
                </a:solidFill>
                <a:latin typeface="Times New Roman"/>
              </a:rPr>
              <a:t>Training and validation across 64 epochs. Train accuracy saturates at 1.000; validation loss rises from about epoch 5 - overfitting on 120 training clips.</a:t>
            </a:r>
          </a:p>
        </p:txBody>
      </p:sp>
      <p:pic>
        <p:nvPicPr>
          <p:cNvPr id="9" name="Picture 8" descr="fig2_mrs_weight_ev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3657" y="3794760"/>
            <a:ext cx="6634204" cy="2103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925312"/>
            <a:ext cx="11155680" cy="29260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buNone/>
            </a:pPr>
            <a:r>
              <a:rPr sz="1100" b="0" i="1">
                <a:solidFill>
                  <a:srgbClr val="5A646E"/>
                </a:solidFill>
                <a:latin typeface="Times New Roman"/>
              </a:rPr>
              <a:t>The five MRS weights start at 0.20 and converge to: face visibility 0.459, blur 0.236, motion 0.200, head pose 0.056, eye visibility 0.050.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76656"/>
            <a:ext cx="10515600" cy="576072"/>
          </a:xfrm>
        </p:spPr>
        <p:txBody>
          <a:bodyPr wrap="square"/>
          <a:lstStyle/>
          <a:p>
            <a:pPr>
              <a:buNone/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Experiments and Results - Per-Class Performance and SHAP</a:t>
            </a:r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08-09-2026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fig3_per_class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2095"/>
            <a:ext cx="5394960" cy="27422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864608"/>
            <a:ext cx="5394960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buNone/>
            </a:pPr>
            <a:r>
              <a:rPr sz="1100" b="0" i="1">
                <a:solidFill>
                  <a:srgbClr val="5A646E"/>
                </a:solidFill>
                <a:latin typeface="Times New Roman"/>
              </a:rPr>
              <a:t>Per-class precision / recall / F1. All four classes are predicted.</a:t>
            </a:r>
          </a:p>
        </p:txBody>
      </p:sp>
      <p:pic>
        <p:nvPicPr>
          <p:cNvPr id="9" name="Picture 8" descr="fig5_shap_grou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078420"/>
            <a:ext cx="5577840" cy="19696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72200" y="4864608"/>
            <a:ext cx="5577840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buNone/>
            </a:pPr>
            <a:r>
              <a:rPr sz="1100" b="0" i="1">
                <a:solidFill>
                  <a:srgbClr val="5A646E"/>
                </a:solidFill>
                <a:latin typeface="Times New Roman"/>
              </a:rPr>
              <a:t>SHAP attribution by feature group - iris/gaze is the strongest landmark contributor per dimension.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468112"/>
            <a:ext cx="11155680" cy="7772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200"/>
              </a:spcAft>
              <a:buNone/>
            </a:pPr>
            <a:r>
              <a:rPr sz="1200">
                <a:solidFill>
                  <a:srgbClr val="161A1F"/>
                </a:solidFill>
                <a:latin typeface="Times New Roman"/>
              </a:rPr>
              <a:t>Low is the hardest class (F1 0.188): 12 of its 20 validation clips are absorbed into High - adjacent intensities are visually similar even for human annotators.</a:t>
            </a:r>
          </a:p>
          <a:p>
            <a:pPr>
              <a:spcAft>
                <a:spcPts val="200"/>
              </a:spcAft>
              <a:buNone/>
            </a:pPr>
            <a:r>
              <a:rPr sz="1200">
                <a:solidFill>
                  <a:srgbClr val="161A1F"/>
                </a:solidFill>
                <a:latin typeface="Times New Roman"/>
              </a:rPr>
              <a:t>SHAP reports what the model relied on, not causation.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76656"/>
            <a:ext cx="10515600" cy="576072"/>
          </a:xfrm>
        </p:spPr>
        <p:txBody>
          <a:bodyPr wrap="square"/>
          <a:lstStyle/>
          <a:p>
            <a:pPr>
              <a:buNone/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Experiments and Results - Worked Examples</a:t>
            </a:r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08-09-2026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fig7_example_5000672066_landma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309" y="1325880"/>
            <a:ext cx="3953621" cy="2057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3419856"/>
            <a:ext cx="5669280" cy="47548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buNone/>
            </a:pPr>
            <a:r>
              <a:rPr sz="1050" b="0" i="1">
                <a:solidFill>
                  <a:srgbClr val="5A646E"/>
                </a:solidFill>
                <a:latin typeface="Times New Roman"/>
              </a:rPr>
              <a:t>Clip 5000672066 (subject 500067) - detector 0.976, clip MRS 0.518.  True High, predicted High (p = 0.821).  CORRECT</a:t>
            </a:r>
          </a:p>
        </p:txBody>
      </p:sp>
      <p:pic>
        <p:nvPicPr>
          <p:cNvPr id="9" name="Picture 8" descr="fig7_example_5000441067_landmar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4309" y="1325880"/>
            <a:ext cx="3953621" cy="2057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6480" y="3419856"/>
            <a:ext cx="5669280" cy="47548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buNone/>
            </a:pPr>
            <a:r>
              <a:rPr sz="1050" b="0" i="1">
                <a:solidFill>
                  <a:srgbClr val="5A646E"/>
                </a:solidFill>
                <a:latin typeface="Times New Roman"/>
              </a:rPr>
              <a:t>Clip 5000441067 (subject 500044) - clip MRS 0.331.  True Low, predicted High (p = 0.603).  INCORRECT</a:t>
            </a:r>
          </a:p>
        </p:txBody>
      </p:sp>
      <p:pic>
        <p:nvPicPr>
          <p:cNvPr id="11" name="Picture 10" descr="fig8_example_5000672066_decis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863" y="3950208"/>
            <a:ext cx="4626512" cy="1783079"/>
          </a:xfrm>
          <a:prstGeom prst="rect">
            <a:avLst/>
          </a:prstGeom>
        </p:spPr>
      </p:pic>
      <p:pic>
        <p:nvPicPr>
          <p:cNvPr id="12" name="Picture 11" descr="fig8_example_5000441067_decis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7313" y="3950208"/>
            <a:ext cx="4647613" cy="17830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5852160"/>
            <a:ext cx="11338560" cy="3657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B4761F"/>
                </a:solidFill>
                <a:latin typeface="Times New Roman"/>
              </a:rPr>
              <a:t>The misclassified clip has markedly lower reliability (0.331 vs 0.518): MRS independently flagged it as poorly observed, and the prediction on it was wrong.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49A39-F362-DB35-B5DF-7E322AB9C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F33DD-84F0-A7F9-A1DC-A4DEA1A7D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463040"/>
            <a:ext cx="10515600" cy="4663440"/>
          </a:xfrm>
        </p:spPr>
        <p:txBody>
          <a:bodyPr wrap="square" anchor="t">
            <a:normAutofit/>
          </a:bodyPr>
          <a:lstStyle/>
          <a:p>
            <a:pPr>
              <a:spcAft>
                <a:spcPts val="11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Built and verified. </a:t>
            </a:r>
            <a:r>
              <a:rPr sz="1350">
                <a:solidFill>
                  <a:srgbClr val="161A1F"/>
                </a:solidFill>
                <a:latin typeface="Times New Roman"/>
              </a:rPr>
              <a:t>A complete DAiSEE pipeline: audit, sampling, face and landmark extraction, reliability scoring, frozen ViT, Mamba temporal encoder, fusion, classification and SHAP. All 216 clips process without failure.</a:t>
            </a:r>
          </a:p>
          <a:p>
            <a:pPr>
              <a:spcAft>
                <a:spcPts val="11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Reliability as a weight works. </a:t>
            </a:r>
            <a:r>
              <a:rPr sz="1350">
                <a:solidFill>
                  <a:srgbClr val="161A1F"/>
                </a:solidFill>
                <a:latin typeface="Times New Roman"/>
              </a:rPr>
              <a:t>Frames are never dropped; the sequence length and spacing are identical for every clip regardless of degradation. Under controlled degradation the score falls as expected (0.657 clean -&gt; 0.484 at 25% occlusion), so it measures what it claims to.</a:t>
            </a:r>
          </a:p>
          <a:p>
            <a:pPr>
              <a:spcAft>
                <a:spcPts val="11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Learned weights agree with independent analysis. </a:t>
            </a:r>
            <a:r>
              <a:rPr sz="1350">
                <a:solidFill>
                  <a:srgbClr val="161A1F"/>
                </a:solidFill>
                <a:latin typeface="Times New Roman"/>
              </a:rPr>
              <a:t>From a 0.20 start the optimiser concentrated on face visibility (0.459) and blur (0.236) and suppressed head pose (0.056) and eye visibility (0.050) - the same two components a separate variance analysis found to be near-constant. Head pose fell rather than rose, so no engagement cue leaked into the reliability term.</a:t>
            </a:r>
          </a:p>
          <a:p>
            <a:pPr>
              <a:spcAft>
                <a:spcPts val="11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Above chance, with the caveat stated. </a:t>
            </a:r>
            <a:r>
              <a:rPr sz="1350">
                <a:solidFill>
                  <a:srgbClr val="161A1F"/>
                </a:solidFill>
                <a:latin typeface="Times New Roman"/>
              </a:rPr>
              <a:t>38.75% validation accuracy vs 25% chance, p = 0.0046. The 16-clip test split is not statistically powered.</a:t>
            </a:r>
          </a:p>
          <a:p>
            <a:pPr>
              <a:spcAft>
                <a:spcPts val="11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Next: </a:t>
            </a:r>
            <a:r>
              <a:rPr sz="1350">
                <a:solidFill>
                  <a:srgbClr val="161A1F"/>
                </a:solidFill>
                <a:latin typeface="Times New Roman"/>
              </a:rPr>
              <a:t>scale to the full 9,068-clip DAiSEE release, run multi-seed ablations, and fit the reliability weights against degradation severity so that no label influences MRS at all.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754A46F-4AC3-5AF1-0B78-C0B5112BD1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BAA61-633E-E24B-7DEE-4B2A2B1FA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08-09-2026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3C553-2D0C-5A0A-39DC-21C43BD88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7A7E9-45BE-62F4-D3A6-F19DC6ABE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498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0E1A0-FA4A-8258-6E10-9F00EDC0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7CFC0C65-61CC-E657-43F7-99C8E53624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C4F09CD-956A-B8B3-1183-9C28C80DDB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8640" y="1325880"/>
            <a:ext cx="11155680" cy="484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None/>
            </a:pPr>
            <a:r>
              <a:rPr sz="1050">
                <a:solidFill>
                  <a:srgbClr val="161A1F"/>
                </a:solidFill>
                <a:latin typeface="Times New Roman"/>
              </a:rPr>
              <a:t>[1] A. Gupta, A. D’Cunha, K. Awasthi, and V. Balasubramanian, "DAiSEE: Towards user engagement recognition in the wild," arXiv:1609.01885, 2016.</a:t>
            </a:r>
          </a:p>
          <a:p>
            <a:pPr>
              <a:spcAft>
                <a:spcPts val="300"/>
              </a:spcAft>
              <a:buNone/>
            </a:pPr>
            <a:r>
              <a:rPr sz="1050">
                <a:solidFill>
                  <a:srgbClr val="161A1F"/>
                </a:solidFill>
                <a:latin typeface="Times New Roman"/>
              </a:rPr>
              <a:t>[2] J. Whitehill, Z. Serpell, Y.-C. Lin, A. Foster, and J. R. Movellan, "The faces of engagement: Automatic recognition of student engagement from facial expressions," IEEE Trans. Affective Computing, vol. 5, no. 1, pp. 86–98, 2014.</a:t>
            </a:r>
          </a:p>
          <a:p>
            <a:pPr>
              <a:spcAft>
                <a:spcPts val="300"/>
              </a:spcAft>
              <a:buNone/>
            </a:pPr>
            <a:r>
              <a:rPr sz="1050">
                <a:solidFill>
                  <a:srgbClr val="161A1F"/>
                </a:solidFill>
                <a:latin typeface="Times New Roman"/>
              </a:rPr>
              <a:t>[3] J. Donahue et al., "Long-term recurrent convolutional networks for visual recognition and description," in Proc. IEEE CVPR, 2015, pp. 2625–2634.</a:t>
            </a:r>
          </a:p>
          <a:p>
            <a:pPr>
              <a:spcAft>
                <a:spcPts val="300"/>
              </a:spcAft>
              <a:buNone/>
            </a:pPr>
            <a:r>
              <a:rPr sz="1050">
                <a:solidFill>
                  <a:srgbClr val="161A1F"/>
                </a:solidFill>
                <a:latin typeface="Times New Roman"/>
              </a:rPr>
              <a:t>[4] D. Tran, L. Bourdev, R. Fergus, L. Torresani, and M. Paluri, "Learning spatiotemporal features with 3D convolutional networks," in Proc. IEEE ICCV, 2015, pp. 4489–4497.</a:t>
            </a:r>
          </a:p>
          <a:p>
            <a:pPr>
              <a:spcAft>
                <a:spcPts val="300"/>
              </a:spcAft>
              <a:buNone/>
            </a:pPr>
            <a:r>
              <a:rPr sz="1050">
                <a:solidFill>
                  <a:srgbClr val="161A1F"/>
                </a:solidFill>
                <a:latin typeface="Times New Roman"/>
              </a:rPr>
              <a:t>[5] G. Bertasius, H. Wang, and L. Torresani, "Is space-time attention all you need for video understanding?," in Proc. ICML, 2021, pp. 813–824.</a:t>
            </a:r>
          </a:p>
          <a:p>
            <a:pPr>
              <a:spcAft>
                <a:spcPts val="300"/>
              </a:spcAft>
              <a:buNone/>
            </a:pPr>
            <a:r>
              <a:rPr sz="1050">
                <a:solidFill>
                  <a:srgbClr val="161A1F"/>
                </a:solidFill>
                <a:latin typeface="Times New Roman"/>
              </a:rPr>
              <a:t>[6] A. Gu and T. Dao, "Mamba: Linear-time sequence modeling with selective state spaces," arXiv:2312.00752, 2023.</a:t>
            </a:r>
          </a:p>
          <a:p>
            <a:pPr>
              <a:spcAft>
                <a:spcPts val="300"/>
              </a:spcAft>
              <a:buNone/>
            </a:pPr>
            <a:r>
              <a:rPr sz="1050">
                <a:solidFill>
                  <a:srgbClr val="161A1F"/>
                </a:solidFill>
                <a:latin typeface="Times New Roman"/>
              </a:rPr>
              <a:t>[7] L. Zhu, B. Liao, Q. Zhang, X. Wang, W. Liu, and X. Wang, "Vision Mamba: Efficient visual representation learning with bidirectional state space model," in Proc. ICML, 2024.</a:t>
            </a:r>
          </a:p>
          <a:p>
            <a:pPr>
              <a:spcAft>
                <a:spcPts val="300"/>
              </a:spcAft>
              <a:buNone/>
            </a:pPr>
            <a:r>
              <a:rPr sz="1050">
                <a:solidFill>
                  <a:srgbClr val="161A1F"/>
                </a:solidFill>
                <a:latin typeface="Times New Roman"/>
              </a:rPr>
              <a:t>[8] A. Dosovitskiy et al., "An image is worth 16x16 words: Transformers for image recognition at scale," in Proc. ICLR, 2021.</a:t>
            </a:r>
          </a:p>
          <a:p>
            <a:pPr>
              <a:spcAft>
                <a:spcPts val="300"/>
              </a:spcAft>
              <a:buNone/>
            </a:pPr>
            <a:r>
              <a:rPr sz="1050">
                <a:solidFill>
                  <a:srgbClr val="161A1F"/>
                </a:solidFill>
                <a:latin typeface="Times New Roman"/>
              </a:rPr>
              <a:t>[9] C. Lugaresi et al., "MediaPipe: A framework for building perception pipelines," arXiv:1906.08172, 2019.</a:t>
            </a:r>
          </a:p>
          <a:p>
            <a:pPr>
              <a:spcAft>
                <a:spcPts val="300"/>
              </a:spcAft>
              <a:buNone/>
            </a:pPr>
            <a:r>
              <a:rPr sz="1050">
                <a:solidFill>
                  <a:srgbClr val="161A1F"/>
                </a:solidFill>
                <a:latin typeface="Times New Roman"/>
              </a:rPr>
              <a:t>[10] Y. Kartynnik, A. Ablavatski, I. Grishchenko, and M. Grundmann, "Real-time facial surface geometry from monocular video on mobile GPUs," in Proc. CVPR Workshops, 2019.</a:t>
            </a:r>
          </a:p>
          <a:p>
            <a:pPr>
              <a:spcAft>
                <a:spcPts val="300"/>
              </a:spcAft>
              <a:buNone/>
            </a:pPr>
            <a:r>
              <a:rPr sz="1050">
                <a:solidFill>
                  <a:srgbClr val="161A1F"/>
                </a:solidFill>
                <a:latin typeface="Times New Roman"/>
              </a:rPr>
              <a:t>[11] V. Bazarevsky, Y. Kartynnik, A. Vakunov, K. Raveendran, and M. Grundmann, "BlazeFace: Sub-millisecond neural face detection on mobile GPUs," arXiv:1907.05047, 2019.</a:t>
            </a:r>
          </a:p>
          <a:p>
            <a:pPr>
              <a:spcAft>
                <a:spcPts val="300"/>
              </a:spcAft>
              <a:buNone/>
            </a:pPr>
            <a:r>
              <a:rPr sz="1050">
                <a:solidFill>
                  <a:srgbClr val="161A1F"/>
                </a:solidFill>
                <a:latin typeface="Times New Roman"/>
              </a:rPr>
              <a:t>[12] J. L. Pech-Pacheco, G. Cristóbal, J. Chamorro-Martínez, and J. Fernández-Valdivia, "Diatom autofocusing in brightfield microscopy: A comparative study," in Proc. ICPR, 2000, pp. 314–317.</a:t>
            </a:r>
          </a:p>
          <a:p>
            <a:pPr>
              <a:spcAft>
                <a:spcPts val="300"/>
              </a:spcAft>
              <a:buNone/>
            </a:pPr>
            <a:r>
              <a:rPr sz="1050">
                <a:solidFill>
                  <a:srgbClr val="161A1F"/>
                </a:solidFill>
                <a:latin typeface="Times New Roman"/>
              </a:rPr>
              <a:t>[13] P. Terhörst, J. N. Kolf, N. Damer, F. Kirchbuchner, and A. Kuijper, "SER-FIQ: Unsupervised estimation of face image quality based on stochastic embedding robustness," in Proc. IEEE CVPR, 2020, pp. 5651–5660.</a:t>
            </a:r>
          </a:p>
          <a:p>
            <a:pPr>
              <a:spcAft>
                <a:spcPts val="300"/>
              </a:spcAft>
              <a:buNone/>
            </a:pPr>
            <a:r>
              <a:rPr sz="1050">
                <a:solidFill>
                  <a:srgbClr val="161A1F"/>
                </a:solidFill>
                <a:latin typeface="Times New Roman"/>
              </a:rPr>
              <a:t>[14] S. M. Lundberg and S.-I. Lee, "A unified approach to interpreting model predictions," in Proc. NeurIPS, 2017, pp. 4765–4774.</a:t>
            </a:r>
          </a:p>
          <a:p>
            <a:pPr>
              <a:spcAft>
                <a:spcPts val="300"/>
              </a:spcAft>
              <a:buNone/>
            </a:pPr>
            <a:r>
              <a:rPr sz="1050">
                <a:solidFill>
                  <a:srgbClr val="161A1F"/>
                </a:solidFill>
                <a:latin typeface="Times New Roman"/>
              </a:rPr>
              <a:t>[15] I. Loshchilov and F. Hutter, "Decoupled weight decay regularization," in Proc. ICLR, 2019.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2D3DB-7149-E1E5-D5F9-4FC93A78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7B6C-E68D-4047-8A1E-3C7BD2842AF7}" type="datetime1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CABB1-7C63-52E3-2815-3651AE7E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1EAEC-BCE3-2979-69C6-273309B9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526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2314</Words>
  <Application>Microsoft Office PowerPoint</Application>
  <PresentationFormat>Widescreen</PresentationFormat>
  <Paragraphs>189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B.Tech. Computer Science and Engineering
BCSE497J - Project-I A RELIABILITY-GUIDED VIT–MAMBA FRAMEWORK WITH FACIAL LANDMARK FUSION FOR STUDENT ENGAGEMENT RECOGNITION</vt:lpstr>
      <vt:lpstr>Approval Mail From Guide</vt:lpstr>
      <vt:lpstr>Aim</vt:lpstr>
      <vt:lpstr>Abstract</vt:lpstr>
      <vt:lpstr>Literature Review</vt:lpstr>
      <vt:lpstr>Research Gap</vt:lpstr>
      <vt:lpstr>Objectives</vt:lpstr>
      <vt:lpstr>Framework/Architecture/Block Diagram</vt:lpstr>
      <vt:lpstr>Functional Requirements</vt:lpstr>
      <vt:lpstr>Modules</vt:lpstr>
      <vt:lpstr>Experiments and Results</vt:lpstr>
      <vt:lpstr>Experiments and Results - Training Behaviour</vt:lpstr>
      <vt:lpstr>Experiments and Results - Per-Class Performance and SHAP</vt:lpstr>
      <vt:lpstr>Experiments and Results - Worked Examples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Parthasarathy G</dc:creator>
  <cp:lastModifiedBy>Adhvaith Ashok</cp:lastModifiedBy>
  <cp:revision>7</cp:revision>
  <dcterms:created xsi:type="dcterms:W3CDTF">2026-07-14T06:00:41Z</dcterms:created>
  <dcterms:modified xsi:type="dcterms:W3CDTF">2026-09-08T15:47:30Z</dcterms:modified>
</cp:coreProperties>
</file>