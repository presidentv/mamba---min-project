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63" r:id="rId3"/>
    <p:sldId id="257" r:id="rId4"/>
    <p:sldId id="258" r:id="rId5"/>
    <p:sldId id="259" r:id="rId6"/>
    <p:sldId id="260" r:id="rId7"/>
    <p:sldId id="261" r:id="rId8"/>
    <p:sldId id="264" r:id="rId9"/>
    <p:sldId id="265" r:id="rId10"/>
    <p:sldId id="266" r:id="rId11"/>
    <p:sldId id="267" r:id="rId12"/>
    <p:sldId id="269" r:id="rId13"/>
    <p:sldId id="270" r:id="rId14"/>
    <p:sldId id="271" r:id="rId15"/>
    <p:sldId id="268"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08-09-2026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08-09-2026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08-09-2026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08-09-2026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08-09-2026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08-09-2026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08-09-2026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08-09-2026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08-09-2026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08-09-2026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08-09-2026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08-09-2026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435543"/>
            <a:ext cx="8924544" cy="1588127"/>
          </a:xfrm>
          <a:prstGeom prst="rect">
            <a:avLst/>
          </a:prstGeom>
          <a:noFill/>
        </p:spPr>
        <p:txBody>
          <a:bodyPr wrap="square" rtlCol="0">
            <a:spAutoFit/>
          </a:bodyPr>
          <a:lstStyle/>
          <a:p>
            <a:pPr algn="ctr"/>
            <a:r>
              <a:rPr sz="1800" b="1" dirty="0">
                <a:solidFill>
                  <a:srgbClr val="5A646E"/>
                </a:solidFill>
                <a:latin typeface="Times New Roman"/>
              </a:rPr>
              <a:t>B.Tech. Computer Science and Engineering
BCSE497J - Project-I</a:t>
            </a:r>
          </a:p>
          <a:p>
            <a:r>
              <a:rPr lang="en-US" sz="2400" b="1" dirty="0">
                <a:solidFill>
                  <a:srgbClr val="1F6F78"/>
                </a:solidFill>
                <a:latin typeface="Times New Roman"/>
              </a:rPr>
              <a:t>A RELIABILITY-GUIDED VIT–MAMBA FRAMEWORK WITH FACIAL LANDMARK FUSION FOR STUDENT ENGAGEMENT RECOGNITION</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039020"/>
          </a:xfrm>
          <a:prstGeom prst="rect">
            <a:avLst/>
          </a:prstGeom>
        </p:spPr>
        <p:txBody>
          <a:bodyPr vert="horz" wrap="square" lIns="0" tIns="12700" rIns="0" bIns="0" rtlCol="0">
            <a:spAutoFit/>
          </a:bodyPr>
          <a:lstStyle/>
          <a:p>
            <a:pPr>
              <a:lnSpc>
                <a:spcPct val="100000"/>
              </a:lnSpc>
              <a:spcBef>
                <a:spcPts val="200"/>
              </a:spcBef>
            </a:pPr>
            <a:r>
              <a:rPr sz="1600" b="1" dirty="0">
                <a:solidFill>
                  <a:srgbClr val="161A1F"/>
                </a:solidFill>
                <a:latin typeface="Times New Roman"/>
              </a:rPr>
              <a:t>Team members:</a:t>
            </a:r>
            <a:endParaRPr lang="en-US" sz="1600" b="1" dirty="0">
              <a:solidFill>
                <a:srgbClr val="161A1F"/>
              </a:solidFill>
              <a:latin typeface="Times New Roman"/>
            </a:endParaRPr>
          </a:p>
          <a:p>
            <a:pPr>
              <a:lnSpc>
                <a:spcPct val="100000"/>
              </a:lnSpc>
              <a:spcBef>
                <a:spcPts val="200"/>
              </a:spcBef>
            </a:pPr>
            <a:endParaRPr sz="1800" dirty="0">
              <a:latin typeface="Times New Roman"/>
              <a:cs typeface="Times New Roman"/>
            </a:endParaRPr>
          </a:p>
          <a:p>
            <a:r>
              <a:rPr lang="en-US" sz="1600" b="0" dirty="0">
                <a:solidFill>
                  <a:srgbClr val="5A646E"/>
                </a:solidFill>
                <a:latin typeface="Times New Roman"/>
              </a:rPr>
              <a:t>ILAKKIYA S 	   23BCE2012</a:t>
            </a:r>
            <a:endParaRPr sz="1600" b="0" dirty="0">
              <a:solidFill>
                <a:srgbClr val="5A646E"/>
              </a:solidFill>
              <a:latin typeface="Times New Roman"/>
            </a:endParaRPr>
          </a:p>
          <a:p>
            <a:r>
              <a:rPr lang="en-US" sz="1600" dirty="0">
                <a:solidFill>
                  <a:srgbClr val="5A646E"/>
                </a:solidFill>
                <a:latin typeface="Times New Roman"/>
              </a:rPr>
              <a:t>ADHVAITH N A</a:t>
            </a:r>
            <a:r>
              <a:rPr sz="1600" b="0" dirty="0">
                <a:solidFill>
                  <a:srgbClr val="5A646E"/>
                </a:solidFill>
                <a:latin typeface="Times New Roman"/>
              </a:rPr>
              <a:t>           </a:t>
            </a:r>
            <a:r>
              <a:rPr lang="en-US" sz="1600" b="0" dirty="0">
                <a:solidFill>
                  <a:srgbClr val="5A646E"/>
                </a:solidFill>
                <a:latin typeface="Times New Roman"/>
              </a:rPr>
              <a:t>23BCE2064</a:t>
            </a:r>
            <a:endParaRPr sz="1600" b="0" dirty="0">
              <a:solidFill>
                <a:srgbClr val="5A646E"/>
              </a:solidFill>
              <a:latin typeface="Times New Roman"/>
            </a:endParaRPr>
          </a:p>
          <a:p>
            <a:r>
              <a:rPr lang="en-US" sz="1600" dirty="0">
                <a:solidFill>
                  <a:srgbClr val="5A646E"/>
                </a:solidFill>
                <a:latin typeface="Times New Roman"/>
              </a:rPr>
              <a:t>DON GEORGE</a:t>
            </a:r>
            <a:r>
              <a:rPr sz="1600" b="0" dirty="0">
                <a:solidFill>
                  <a:srgbClr val="5A646E"/>
                </a:solidFill>
                <a:latin typeface="Times New Roman"/>
              </a:rPr>
              <a:t>             </a:t>
            </a:r>
            <a:r>
              <a:rPr lang="en-US" sz="1600" dirty="0">
                <a:solidFill>
                  <a:srgbClr val="5A646E"/>
                </a:solidFill>
                <a:latin typeface="Times New Roman"/>
              </a:rPr>
              <a:t>23BDS0006</a:t>
            </a:r>
            <a:endParaRPr sz="1600" b="0" dirty="0">
              <a:solidFill>
                <a:srgbClr val="5A646E"/>
              </a:solidFill>
              <a:latin typeface="Times New Roman"/>
            </a:endParaRPr>
          </a:p>
          <a:p>
            <a:endParaRPr sz="1600" b="0" dirty="0">
              <a:solidFill>
                <a:srgbClr val="5A646E"/>
              </a:solidFill>
              <a:latin typeface="Times New Roman"/>
            </a:endParaRPr>
          </a:p>
          <a:p>
            <a:r>
              <a:rPr sz="1600" b="1" dirty="0">
                <a:solidFill>
                  <a:srgbClr val="161A1F"/>
                </a:solidFill>
                <a:latin typeface="Times New Roman"/>
              </a:rPr>
              <a:t>Faculty guide:</a:t>
            </a:r>
          </a:p>
          <a:p>
            <a:r>
              <a:rPr lang="en-US" sz="1600" b="0" dirty="0">
                <a:solidFill>
                  <a:srgbClr val="5A646E"/>
                </a:solidFill>
                <a:latin typeface="Times New Roman"/>
              </a:rPr>
              <a:t>DEEPIKA J</a:t>
            </a:r>
            <a:endParaRPr sz="1600" b="0" dirty="0">
              <a:solidFill>
                <a:srgbClr val="5A646E"/>
              </a:solidFill>
              <a:latin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fld id="{FEA886FF-1BA7-4533-94E6-869CE1E2970B}" type="datetime1">
              <a:rPr lang="en-IN" smtClean="0"/>
              <a:t>08-09-2026</a:t>
            </a:fld>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841248" y="1645920"/>
            <a:ext cx="10515600" cy="2926080"/>
          </a:xfrm>
        </p:spPr>
        <p:txBody>
          <a:bodyPr wrap="square" anchor="t">
            <a:normAutofit/>
          </a:bodyPr>
          <a:lstStyle/>
          <a:p>
            <a:pPr>
              <a:spcAft>
                <a:spcPts val="2200"/>
              </a:spcAft>
            </a:pPr>
            <a:r>
              <a:rPr sz="1900">
                <a:solidFill>
                  <a:srgbClr val="161A1F"/>
                </a:solidFill>
                <a:latin typeface="Times New Roman"/>
              </a:rPr>
              <a:t>To recognise student engagement from webcam video by measuring how reliable each observation is, and weighting frames accordingly - without ever discarding them - so that the temporal model receives an intact, uniformly spaced sequence.</a:t>
            </a:r>
          </a:p>
          <a:p>
            <a:pPr>
              <a:spcAft>
                <a:spcPts val="2200"/>
              </a:spcAft>
            </a:pPr>
            <a:r>
              <a:rPr sz="1900">
                <a:solidFill>
                  <a:srgbClr val="161A1F"/>
                </a:solidFill>
                <a:latin typeface="Times New Roman"/>
              </a:rPr>
              <a:t>Reliability is treated as an observation-quality signal, never as an engagement cue: a turned head means the evidence is weaker, not that the learner is disengaged.</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08-09-2026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841248" y="1463040"/>
            <a:ext cx="10515600" cy="4663440"/>
          </a:xfrm>
        </p:spPr>
        <p:txBody>
          <a:bodyPr wrap="square" anchor="t">
            <a:normAutofit fontScale="92500" lnSpcReduction="10000"/>
          </a:bodyPr>
          <a:lstStyle/>
          <a:p>
            <a:pPr>
              <a:spcAft>
                <a:spcPts val="1100"/>
              </a:spcAft>
            </a:pPr>
            <a:r>
              <a:rPr sz="1500" b="1" dirty="0">
                <a:solidFill>
                  <a:srgbClr val="1F6F78"/>
                </a:solidFill>
                <a:latin typeface="Times New Roman"/>
              </a:rPr>
              <a:t>Problem: </a:t>
            </a:r>
            <a:r>
              <a:rPr lang="en-US" sz="1500" dirty="0">
                <a:solidFill>
                  <a:srgbClr val="161A1F"/>
                </a:solidFill>
                <a:latin typeface="Times New Roman"/>
              </a:rPr>
              <a:t>Student engagement recognition from webcam video is affected by unreliable observations such as blur, occlusion, poor face visibility, and faces moving out of the frame. Giving every frame equal importance can allow these unreliable observations to negatively influence the model's ability to recognize student engagement.</a:t>
            </a:r>
          </a:p>
          <a:p>
            <a:pPr>
              <a:spcAft>
                <a:spcPts val="1100"/>
              </a:spcAft>
            </a:pPr>
            <a:r>
              <a:rPr lang="en-US" sz="1500" b="1" dirty="0">
                <a:solidFill>
                  <a:srgbClr val="1F6F78"/>
                </a:solidFill>
                <a:latin typeface="Times New Roman"/>
              </a:rPr>
              <a:t>Conventional fix: </a:t>
            </a:r>
            <a:r>
              <a:rPr lang="en-US" sz="1500" dirty="0">
                <a:latin typeface="Times New Roman"/>
              </a:rPr>
              <a:t>A common approach is to identify and discard low-quality frames before sending the video sequence to a temporal model. However, removing frames changes the original temporal sequence and can also remove useful behavioral information that may contribute to recognizing engagement.</a:t>
            </a:r>
          </a:p>
          <a:p>
            <a:pPr>
              <a:spcAft>
                <a:spcPts val="1100"/>
              </a:spcAft>
            </a:pPr>
            <a:r>
              <a:rPr lang="en-US" sz="1500" b="1" dirty="0">
                <a:solidFill>
                  <a:srgbClr val="1F6F78"/>
                </a:solidFill>
                <a:latin typeface="Times New Roman"/>
              </a:rPr>
              <a:t>This work: </a:t>
            </a:r>
            <a:r>
              <a:rPr lang="en-US" sz="1500" dirty="0">
                <a:solidFill>
                  <a:srgbClr val="161A1F"/>
                </a:solidFill>
                <a:latin typeface="Times New Roman"/>
              </a:rPr>
              <a:t>We propose a per-frame Motion/Observation Reliability Score (MRS) based on five observation-quality signals to estimate how reliable each frame is. Instead of removing unreliable frames, the MRS is used as a soft weight on the </a:t>
            </a:r>
            <a:r>
              <a:rPr lang="en-US" sz="1500" dirty="0" err="1">
                <a:solidFill>
                  <a:srgbClr val="161A1F"/>
                </a:solidFill>
                <a:latin typeface="Times New Roman"/>
              </a:rPr>
              <a:t>ViT</a:t>
            </a:r>
            <a:r>
              <a:rPr lang="en-US" sz="1500" dirty="0">
                <a:solidFill>
                  <a:srgbClr val="161A1F"/>
                </a:solidFill>
                <a:latin typeface="Times New Roman"/>
              </a:rPr>
              <a:t> features, reducing the influence of unreliable observations while preserving every frame's original temporal position.</a:t>
            </a:r>
          </a:p>
          <a:p>
            <a:pPr>
              <a:spcAft>
                <a:spcPts val="1100"/>
              </a:spcAft>
            </a:pPr>
            <a:r>
              <a:rPr lang="en-US" sz="1500" b="1" dirty="0">
                <a:solidFill>
                  <a:srgbClr val="1F6F78"/>
                </a:solidFill>
                <a:latin typeface="Times New Roman"/>
              </a:rPr>
              <a:t>Architecture: </a:t>
            </a:r>
            <a:r>
              <a:rPr lang="en-US" sz="1500" dirty="0" err="1">
                <a:solidFill>
                  <a:srgbClr val="161A1F"/>
                </a:solidFill>
                <a:latin typeface="Times New Roman"/>
              </a:rPr>
              <a:t>ViT</a:t>
            </a:r>
            <a:r>
              <a:rPr lang="en-US" sz="1500" dirty="0">
                <a:solidFill>
                  <a:srgbClr val="161A1F"/>
                </a:solidFill>
                <a:latin typeface="Times New Roman"/>
              </a:rPr>
              <a:t>-B/16 extracts spatial features → MRS weighting → Mamba captures temporal patterns → </a:t>
            </a:r>
            <a:r>
              <a:rPr lang="en-US" sz="1500" dirty="0" err="1">
                <a:solidFill>
                  <a:srgbClr val="161A1F"/>
                </a:solidFill>
                <a:latin typeface="Times New Roman"/>
              </a:rPr>
              <a:t>MediaPipe</a:t>
            </a:r>
            <a:r>
              <a:rPr lang="en-US" sz="1500" dirty="0">
                <a:solidFill>
                  <a:srgbClr val="161A1F"/>
                </a:solidFill>
                <a:latin typeface="Times New Roman"/>
              </a:rPr>
              <a:t> extracts facial geometry → feature fusion → 4-class MLP predicts engagement.</a:t>
            </a:r>
          </a:p>
          <a:p>
            <a:pPr>
              <a:spcAft>
                <a:spcPts val="1100"/>
              </a:spcAft>
            </a:pPr>
            <a:r>
              <a:rPr lang="en-US" sz="1500" b="1" dirty="0">
                <a:solidFill>
                  <a:srgbClr val="1F6F78"/>
                </a:solidFill>
                <a:latin typeface="Times New Roman"/>
              </a:rPr>
              <a:t>Novelty: </a:t>
            </a:r>
            <a:r>
              <a:rPr lang="en-US" sz="1500" dirty="0">
                <a:solidFill>
                  <a:srgbClr val="161A1F"/>
                </a:solidFill>
                <a:latin typeface="Times New Roman"/>
              </a:rPr>
              <a:t>The main novelty is the reliability-guided temporal modeling: instead of discarding unreliable webcam frames, the proposed MRS softly weights their </a:t>
            </a:r>
            <a:r>
              <a:rPr lang="en-US" sz="1500" dirty="0" err="1">
                <a:solidFill>
                  <a:srgbClr val="161A1F"/>
                </a:solidFill>
                <a:latin typeface="Times New Roman"/>
              </a:rPr>
              <a:t>ViT</a:t>
            </a:r>
            <a:r>
              <a:rPr lang="en-US" sz="1500" dirty="0">
                <a:solidFill>
                  <a:srgbClr val="161A1F"/>
                </a:solidFill>
                <a:latin typeface="Times New Roman"/>
              </a:rPr>
              <a:t> features while preserving their temporal positions. The model also combines these reliability-weighted deep temporal features with complementary </a:t>
            </a:r>
            <a:r>
              <a:rPr lang="en-US" sz="1500" dirty="0" err="1">
                <a:solidFill>
                  <a:srgbClr val="161A1F"/>
                </a:solidFill>
                <a:latin typeface="Times New Roman"/>
              </a:rPr>
              <a:t>MediaPipe</a:t>
            </a:r>
            <a:r>
              <a:rPr lang="en-US" sz="1500" dirty="0">
                <a:solidFill>
                  <a:srgbClr val="161A1F"/>
                </a:solidFill>
                <a:latin typeface="Times New Roman"/>
              </a:rPr>
              <a:t> facial geometric features, allowing the classifier to use both learned visual-temporal information and explicit facial behavior.</a:t>
            </a:r>
          </a:p>
          <a:p>
            <a:pPr>
              <a:spcAft>
                <a:spcPts val="1100"/>
              </a:spcAft>
            </a:pPr>
            <a:r>
              <a:rPr sz="1500" b="1" dirty="0">
                <a:solidFill>
                  <a:srgbClr val="1F6F78"/>
                </a:solidFill>
                <a:latin typeface="Times New Roman"/>
              </a:rPr>
              <a:t>Result: </a:t>
            </a:r>
            <a:r>
              <a:rPr lang="en-US" sz="1500" dirty="0">
                <a:solidFill>
                  <a:srgbClr val="161A1F"/>
                </a:solidFill>
                <a:latin typeface="Times New Roman"/>
              </a:rPr>
              <a:t>On the 216-clip balanced development dataset, the model achieved 38.75% validation accuracy, compared with the 25% chance baseline for four classes. Under controlled degradation, the average MRS decreased from 0.657 to 0.484, indicating that the proposed reliability score responds to degraded observation quality.</a:t>
            </a:r>
            <a:endParaRPr sz="1500" dirty="0">
              <a:solidFill>
                <a:srgbClr val="161A1F"/>
              </a:solidFill>
              <a:latin typeface="Times New Roman"/>
            </a:endParaRP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08-09-2026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08-09-2026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2265086397"/>
              </p:ext>
            </p:extLst>
          </p:nvPr>
        </p:nvGraphicFramePr>
        <p:xfrm>
          <a:off x="457200" y="1298448"/>
          <a:ext cx="11247120" cy="460857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292608">
                <a:tc>
                  <a:txBody>
                    <a:bodyPr/>
                    <a:lstStyle/>
                    <a:p>
                      <a:pPr algn="l">
                        <a:spcAft>
                          <a:spcPts val="100"/>
                        </a:spcAft>
                      </a:pPr>
                      <a:endParaRPr sz="1000" b="1" dirty="0">
                        <a:solidFill>
                          <a:srgbClr val="FFFFFF"/>
                        </a:solidFill>
                        <a:latin typeface="Times New Roman"/>
                      </a:endParaRPr>
                    </a:p>
                  </a:txBody>
                  <a:tcPr marL="54864" marR="54864" marT="27432" marB="27432"/>
                </a:tc>
                <a:tc>
                  <a:txBody>
                    <a:bodyPr/>
                    <a:lstStyle/>
                    <a:p>
                      <a:pPr algn="l">
                        <a:spcAft>
                          <a:spcPts val="100"/>
                        </a:spcAft>
                      </a:pPr>
                      <a:endParaRPr sz="1000" b="1">
                        <a:solidFill>
                          <a:srgbClr val="FFFFFF"/>
                        </a:solidFill>
                        <a:latin typeface="Times New Roman"/>
                      </a:endParaRPr>
                    </a:p>
                  </a:txBody>
                  <a:tcPr marL="54864" marR="54864" marT="27432" marB="27432"/>
                </a:tc>
                <a:tc>
                  <a:txBody>
                    <a:bodyPr/>
                    <a:lstStyle/>
                    <a:p>
                      <a:pPr algn="l">
                        <a:spcAft>
                          <a:spcPts val="100"/>
                        </a:spcAft>
                      </a:pPr>
                      <a:endParaRPr sz="1000" b="1" dirty="0">
                        <a:solidFill>
                          <a:srgbClr val="FFFFFF"/>
                        </a:solidFill>
                        <a:latin typeface="Times New Roman"/>
                      </a:endParaRPr>
                    </a:p>
                  </a:txBody>
                  <a:tcPr marL="54864" marR="54864" marT="27432" marB="27432"/>
                </a:tc>
                <a:tc>
                  <a:txBody>
                    <a:bodyPr/>
                    <a:lstStyle/>
                    <a:p>
                      <a:pPr algn="l">
                        <a:spcAft>
                          <a:spcPts val="100"/>
                        </a:spcAft>
                      </a:pPr>
                      <a:endParaRPr sz="1000" b="1">
                        <a:solidFill>
                          <a:srgbClr val="FFFFFF"/>
                        </a:solidFill>
                        <a:latin typeface="Times New Roman"/>
                      </a:endParaRPr>
                    </a:p>
                  </a:txBody>
                  <a:tcPr marL="54864" marR="54864" marT="27432" marB="27432"/>
                </a:tc>
                <a:tc>
                  <a:txBody>
                    <a:bodyPr/>
                    <a:lstStyle/>
                    <a:p>
                      <a:pPr algn="l">
                        <a:spcAft>
                          <a:spcPts val="100"/>
                        </a:spcAft>
                      </a:pPr>
                      <a:endParaRPr sz="1000" b="1" dirty="0">
                        <a:solidFill>
                          <a:srgbClr val="FFFFFF"/>
                        </a:solidFill>
                        <a:latin typeface="Times New Roman"/>
                      </a:endParaRPr>
                    </a:p>
                  </a:txBody>
                  <a:tcPr marL="54864" marR="54864" marT="27432" marB="27432"/>
                </a:tc>
                <a:extLst>
                  <a:ext uri="{0D108BD9-81ED-4DB2-BD59-A6C34878D82A}">
                    <a16:rowId xmlns:a16="http://schemas.microsoft.com/office/drawing/2014/main" val="323867527"/>
                  </a:ext>
                </a:extLst>
              </a:tr>
              <a:tr h="292608">
                <a:tc>
                  <a:txBody>
                    <a:bodyPr/>
                    <a:lstStyle/>
                    <a:p>
                      <a:pPr algn="l">
                        <a:spcAft>
                          <a:spcPts val="100"/>
                        </a:spcAft>
                      </a:pPr>
                      <a:endParaRPr sz="1000" b="1" dirty="0">
                        <a:solidFill>
                          <a:srgbClr val="FFFFFF"/>
                        </a:solidFill>
                        <a:latin typeface="Times New Roman"/>
                      </a:endParaRPr>
                    </a:p>
                  </a:txBody>
                  <a:tcPr marL="54864" marR="54864" marT="27432" marB="27432"/>
                </a:tc>
                <a:tc>
                  <a:txBody>
                    <a:bodyPr/>
                    <a:lstStyle/>
                    <a:p>
                      <a:pPr algn="l">
                        <a:spcAft>
                          <a:spcPts val="100"/>
                        </a:spcAft>
                      </a:pPr>
                      <a:endParaRPr sz="1000" b="1">
                        <a:solidFill>
                          <a:srgbClr val="FFFFFF"/>
                        </a:solidFill>
                        <a:latin typeface="Times New Roman"/>
                      </a:endParaRPr>
                    </a:p>
                  </a:txBody>
                  <a:tcPr marL="54864" marR="54864" marT="27432" marB="27432"/>
                </a:tc>
                <a:tc>
                  <a:txBody>
                    <a:bodyPr/>
                    <a:lstStyle/>
                    <a:p>
                      <a:pPr algn="l">
                        <a:spcAft>
                          <a:spcPts val="100"/>
                        </a:spcAft>
                      </a:pPr>
                      <a:endParaRPr sz="1000" b="1" dirty="0">
                        <a:solidFill>
                          <a:srgbClr val="FFFFFF"/>
                        </a:solidFill>
                        <a:latin typeface="Times New Roman"/>
                      </a:endParaRPr>
                    </a:p>
                  </a:txBody>
                  <a:tcPr marL="54864" marR="54864" marT="27432" marB="27432"/>
                </a:tc>
                <a:tc>
                  <a:txBody>
                    <a:bodyPr/>
                    <a:lstStyle/>
                    <a:p>
                      <a:pPr algn="l">
                        <a:spcAft>
                          <a:spcPts val="100"/>
                        </a:spcAft>
                      </a:pPr>
                      <a:endParaRPr sz="1000" b="1">
                        <a:solidFill>
                          <a:srgbClr val="FFFFFF"/>
                        </a:solidFill>
                        <a:latin typeface="Times New Roman"/>
                      </a:endParaRPr>
                    </a:p>
                  </a:txBody>
                  <a:tcPr marL="54864" marR="54864" marT="27432" marB="27432"/>
                </a:tc>
                <a:tc>
                  <a:txBody>
                    <a:bodyPr/>
                    <a:lstStyle/>
                    <a:p>
                      <a:pPr algn="l">
                        <a:spcAft>
                          <a:spcPts val="100"/>
                        </a:spcAft>
                      </a:pPr>
                      <a:endParaRPr sz="1000" b="1">
                        <a:solidFill>
                          <a:srgbClr val="FFFFFF"/>
                        </a:solidFill>
                        <a:latin typeface="Times New Roman"/>
                      </a:endParaRPr>
                    </a:p>
                  </a:txBody>
                  <a:tcPr marL="54864" marR="54864" marT="27432" marB="27432"/>
                </a:tc>
                <a:extLst>
                  <a:ext uri="{0D108BD9-81ED-4DB2-BD59-A6C34878D82A}">
                    <a16:rowId xmlns:a16="http://schemas.microsoft.com/office/drawing/2014/main" val="10000"/>
                  </a:ext>
                </a:extLst>
              </a:tr>
              <a:tr h="804672">
                <a:tc>
                  <a:txBody>
                    <a:bodyPr/>
                    <a:lstStyle/>
                    <a:p>
                      <a:pPr algn="l">
                        <a:spcAft>
                          <a:spcPts val="100"/>
                        </a:spcAft>
                      </a:pPr>
                      <a:endParaRPr sz="950" b="1">
                        <a:latin typeface="Times New Roman"/>
                      </a:endParaRPr>
                    </a:p>
                  </a:txBody>
                  <a:tcPr marL="54864" marR="54864" marT="27432" marB="27432"/>
                </a:tc>
                <a:tc>
                  <a:txBody>
                    <a:bodyPr/>
                    <a:lstStyle/>
                    <a:p>
                      <a:pPr algn="l">
                        <a:spcAft>
                          <a:spcPts val="100"/>
                        </a:spcAft>
                      </a:pPr>
                      <a:endParaRPr sz="950" b="0" dirty="0">
                        <a:latin typeface="Times New Roman"/>
                      </a:endParaRPr>
                    </a:p>
                  </a:txBody>
                  <a:tcPr marL="54864" marR="54864" marT="27432" marB="27432"/>
                </a:tc>
                <a:tc>
                  <a:txBody>
                    <a:bodyPr/>
                    <a:lstStyle/>
                    <a:p>
                      <a:pPr algn="l">
                        <a:spcAft>
                          <a:spcPts val="100"/>
                        </a:spcAft>
                      </a:pPr>
                      <a:endParaRPr sz="950" b="0" dirty="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extLst>
                  <a:ext uri="{0D108BD9-81ED-4DB2-BD59-A6C34878D82A}">
                    <a16:rowId xmlns:a16="http://schemas.microsoft.com/office/drawing/2014/main" val="10001"/>
                  </a:ext>
                </a:extLst>
              </a:tr>
              <a:tr h="804672">
                <a:tc>
                  <a:txBody>
                    <a:bodyPr/>
                    <a:lstStyle/>
                    <a:p>
                      <a:pPr algn="l">
                        <a:spcAft>
                          <a:spcPts val="100"/>
                        </a:spcAft>
                      </a:pPr>
                      <a:endParaRPr sz="950" b="1">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dirty="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extLst>
                  <a:ext uri="{0D108BD9-81ED-4DB2-BD59-A6C34878D82A}">
                    <a16:rowId xmlns:a16="http://schemas.microsoft.com/office/drawing/2014/main" val="10002"/>
                  </a:ext>
                </a:extLst>
              </a:tr>
              <a:tr h="804672">
                <a:tc>
                  <a:txBody>
                    <a:bodyPr/>
                    <a:lstStyle/>
                    <a:p>
                      <a:pPr algn="l">
                        <a:spcAft>
                          <a:spcPts val="100"/>
                        </a:spcAft>
                      </a:pPr>
                      <a:endParaRPr sz="950" b="1">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dirty="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extLst>
                  <a:ext uri="{0D108BD9-81ED-4DB2-BD59-A6C34878D82A}">
                    <a16:rowId xmlns:a16="http://schemas.microsoft.com/office/drawing/2014/main" val="10003"/>
                  </a:ext>
                </a:extLst>
              </a:tr>
              <a:tr h="804672">
                <a:tc>
                  <a:txBody>
                    <a:bodyPr/>
                    <a:lstStyle/>
                    <a:p>
                      <a:pPr algn="l">
                        <a:spcAft>
                          <a:spcPts val="100"/>
                        </a:spcAft>
                      </a:pPr>
                      <a:endParaRPr sz="950" b="1">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extLst>
                  <a:ext uri="{0D108BD9-81ED-4DB2-BD59-A6C34878D82A}">
                    <a16:rowId xmlns:a16="http://schemas.microsoft.com/office/drawing/2014/main" val="10004"/>
                  </a:ext>
                </a:extLst>
              </a:tr>
              <a:tr h="804672">
                <a:tc>
                  <a:txBody>
                    <a:bodyPr/>
                    <a:lstStyle/>
                    <a:p>
                      <a:pPr algn="l">
                        <a:spcAft>
                          <a:spcPts val="100"/>
                        </a:spcAft>
                      </a:pPr>
                      <a:endParaRPr sz="950" b="1">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a:latin typeface="Times New Roman"/>
                      </a:endParaRPr>
                    </a:p>
                  </a:txBody>
                  <a:tcPr marL="54864" marR="54864" marT="27432" marB="27432"/>
                </a:tc>
                <a:tc>
                  <a:txBody>
                    <a:bodyPr/>
                    <a:lstStyle/>
                    <a:p>
                      <a:pPr algn="l">
                        <a:spcAft>
                          <a:spcPts val="100"/>
                        </a:spcAft>
                      </a:pPr>
                      <a:endParaRPr sz="950" b="0" dirty="0">
                        <a:latin typeface="Times New Roman"/>
                      </a:endParaRPr>
                    </a:p>
                  </a:txBody>
                  <a:tcPr marL="54864" marR="54864" marT="27432" marB="27432"/>
                </a:tc>
                <a:extLst>
                  <a:ext uri="{0D108BD9-81ED-4DB2-BD59-A6C34878D82A}">
                    <a16:rowId xmlns:a16="http://schemas.microsoft.com/office/drawing/2014/main" val="10005"/>
                  </a:ext>
                </a:extLst>
              </a:tr>
            </a:tbl>
          </a:graphicData>
        </a:graphic>
      </p:graphicFrame>
      <p:pic>
        <p:nvPicPr>
          <p:cNvPr id="2" name="table">
            <a:extLst>
              <a:ext uri="{FF2B5EF4-FFF2-40B4-BE49-F238E27FC236}">
                <a16:creationId xmlns:a16="http://schemas.microsoft.com/office/drawing/2014/main" id="{C17C815B-DAAD-C501-E363-CCC440FCA683}"/>
              </a:ext>
            </a:extLst>
          </p:cNvPr>
          <p:cNvPicPr>
            <a:picLocks noChangeAspect="1"/>
          </p:cNvPicPr>
          <p:nvPr/>
        </p:nvPicPr>
        <p:blipFill>
          <a:blip r:embed="rId2"/>
          <a:stretch>
            <a:fillRect/>
          </a:stretch>
        </p:blipFill>
        <p:spPr>
          <a:xfrm>
            <a:off x="448056" y="1271016"/>
            <a:ext cx="11247120" cy="4315968"/>
          </a:xfrm>
          <a:prstGeom prst="rect">
            <a:avLst/>
          </a:prstGeom>
        </p:spPr>
      </p:pic>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841248" y="1554480"/>
            <a:ext cx="10515600" cy="4480560"/>
          </a:xfrm>
        </p:spPr>
        <p:txBody>
          <a:bodyPr wrap="square" anchor="t">
            <a:normAutofit/>
          </a:bodyPr>
          <a:lstStyle/>
          <a:p>
            <a:pPr>
              <a:spcAft>
                <a:spcPts val="2000"/>
              </a:spcAft>
            </a:pPr>
            <a:r>
              <a:rPr sz="1600" b="1">
                <a:solidFill>
                  <a:srgbClr val="1F6F78"/>
                </a:solidFill>
                <a:latin typeface="Times New Roman"/>
              </a:rPr>
              <a:t>1.  Reliability is used as a gate, not a weight. </a:t>
            </a:r>
            <a:r>
              <a:rPr sz="1600">
                <a:solidFill>
                  <a:srgbClr val="161A1F"/>
                </a:solidFill>
                <a:latin typeface="Times New Roman"/>
              </a:rPr>
              <a:t>Existing quality-aware pipelines threshold frame quality and delete frames below it. For a temporal model this is self-defeating: the sequence length changes, the gaps close, and a degraded clip is no longer comparable to a clean one.</a:t>
            </a:r>
          </a:p>
          <a:p>
            <a:pPr>
              <a:spcAft>
                <a:spcPts val="2000"/>
              </a:spcAft>
            </a:pPr>
            <a:r>
              <a:rPr sz="1600" b="1">
                <a:solidFill>
                  <a:srgbClr val="1F6F78"/>
                </a:solidFill>
                <a:latin typeface="Times New Roman"/>
              </a:rPr>
              <a:t>2.  Reliability weights are asserted, not learned. </a:t>
            </a:r>
            <a:r>
              <a:rPr sz="1600">
                <a:solidFill>
                  <a:srgbClr val="161A1F"/>
                </a:solidFill>
                <a:latin typeface="Times New Roman"/>
              </a:rPr>
              <a:t>Where multi-factor quality scores exist, the relative importance of the factors is fixed by hand - usually uniform. Whether blur, occlusion, head rotation and motion deserve equal influence is an empirical question that is rarely asked.</a:t>
            </a:r>
          </a:p>
          <a:p>
            <a:pPr>
              <a:spcAft>
                <a:spcPts val="2000"/>
              </a:spcAft>
            </a:pPr>
            <a:r>
              <a:rPr sz="1600" b="1">
                <a:solidFill>
                  <a:srgbClr val="1F6F78"/>
                </a:solidFill>
                <a:latin typeface="Times New Roman"/>
              </a:rPr>
              <a:t>3.  Reliability and behaviour are conflated. </a:t>
            </a:r>
            <a:r>
              <a:rPr sz="1600">
                <a:solidFill>
                  <a:srgbClr val="161A1F"/>
                </a:solidFill>
                <a:latin typeface="Times New Roman"/>
              </a:rPr>
              <a:t>Head rotation and eye closure are often read as disengagement. A turned head means the frontal evidence is weaker; a blink is normal behaviour. A score contaminated by the label is no longer a reliability score.</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08-09-2026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41248" y="1371600"/>
            <a:ext cx="10515600" cy="2926080"/>
          </a:xfrm>
        </p:spPr>
        <p:txBody>
          <a:bodyPr wrap="square" anchor="t">
            <a:normAutofit/>
          </a:bodyPr>
          <a:lstStyle/>
          <a:p>
            <a:pPr>
              <a:spcAft>
                <a:spcPts val="700"/>
              </a:spcAft>
            </a:pPr>
            <a:r>
              <a:rPr sz="1350" b="1" dirty="0">
                <a:solidFill>
                  <a:srgbClr val="1F6F78"/>
                </a:solidFill>
                <a:latin typeface="Times New Roman"/>
              </a:rPr>
              <a:t>O1  </a:t>
            </a:r>
            <a:r>
              <a:rPr sz="1350" dirty="0">
                <a:solidFill>
                  <a:srgbClr val="161A1F"/>
                </a:solidFill>
                <a:latin typeface="Times New Roman"/>
              </a:rPr>
              <a:t>Verified DAiSEE pipeline - official split, subject </a:t>
            </a:r>
            <a:r>
              <a:rPr sz="1350" dirty="0" err="1">
                <a:solidFill>
                  <a:srgbClr val="161A1F"/>
                </a:solidFill>
                <a:latin typeface="Times New Roman"/>
              </a:rPr>
              <a:t>disjointness</a:t>
            </a:r>
            <a:r>
              <a:rPr sz="1350" dirty="0">
                <a:solidFill>
                  <a:srgbClr val="161A1F"/>
                </a:solidFill>
                <a:latin typeface="Times New Roman"/>
              </a:rPr>
              <a:t> measured and confirmed zero.</a:t>
            </a:r>
          </a:p>
          <a:p>
            <a:pPr>
              <a:spcAft>
                <a:spcPts val="700"/>
              </a:spcAft>
            </a:pPr>
            <a:r>
              <a:rPr sz="1350" b="1" dirty="0">
                <a:solidFill>
                  <a:srgbClr val="1F6F78"/>
                </a:solidFill>
                <a:latin typeface="Times New Roman"/>
              </a:rPr>
              <a:t>O2  </a:t>
            </a:r>
            <a:r>
              <a:rPr sz="1350" dirty="0">
                <a:solidFill>
                  <a:srgbClr val="161A1F"/>
                </a:solidFill>
                <a:latin typeface="Times New Roman"/>
              </a:rPr>
              <a:t>Five-component MRS in [0,1], computed only from observation quality.</a:t>
            </a:r>
          </a:p>
          <a:p>
            <a:pPr>
              <a:spcAft>
                <a:spcPts val="700"/>
              </a:spcAft>
            </a:pPr>
            <a:r>
              <a:rPr sz="1350" b="1" dirty="0">
                <a:solidFill>
                  <a:srgbClr val="1F6F78"/>
                </a:solidFill>
                <a:latin typeface="Times New Roman"/>
              </a:rPr>
              <a:t>O3  </a:t>
            </a:r>
            <a:r>
              <a:rPr sz="1350" dirty="0">
                <a:solidFill>
                  <a:srgbClr val="161A1F"/>
                </a:solidFill>
                <a:latin typeface="Times New Roman"/>
              </a:rPr>
              <a:t>Integrate MRS into </a:t>
            </a:r>
            <a:r>
              <a:rPr sz="1350" dirty="0" err="1">
                <a:solidFill>
                  <a:srgbClr val="161A1F"/>
                </a:solidFill>
                <a:latin typeface="Times New Roman"/>
              </a:rPr>
              <a:t>ViT</a:t>
            </a:r>
            <a:r>
              <a:rPr sz="1350" dirty="0">
                <a:solidFill>
                  <a:srgbClr val="161A1F"/>
                </a:solidFill>
                <a:latin typeface="Times New Roman"/>
              </a:rPr>
              <a:t> + Mamba so temporal positions are provably preserved.</a:t>
            </a:r>
          </a:p>
          <a:p>
            <a:pPr>
              <a:spcAft>
                <a:spcPts val="700"/>
              </a:spcAft>
            </a:pPr>
            <a:r>
              <a:rPr sz="1350" b="1" dirty="0">
                <a:solidFill>
                  <a:srgbClr val="1F6F78"/>
                </a:solidFill>
                <a:latin typeface="Times New Roman"/>
              </a:rPr>
              <a:t>O4  </a:t>
            </a:r>
            <a:r>
              <a:rPr sz="1350" dirty="0">
                <a:solidFill>
                  <a:srgbClr val="161A1F"/>
                </a:solidFill>
                <a:latin typeface="Times New Roman"/>
              </a:rPr>
              <a:t>Learn the five MRS weights from a 0.20 </a:t>
            </a:r>
            <a:r>
              <a:rPr sz="1350" dirty="0" err="1">
                <a:solidFill>
                  <a:srgbClr val="161A1F"/>
                </a:solidFill>
                <a:latin typeface="Times New Roman"/>
              </a:rPr>
              <a:t>initialisation</a:t>
            </a:r>
            <a:r>
              <a:rPr sz="1350" dirty="0">
                <a:solidFill>
                  <a:srgbClr val="161A1F"/>
                </a:solidFill>
                <a:latin typeface="Times New Roman"/>
              </a:rPr>
              <a:t> instead of fixing them.</a:t>
            </a:r>
          </a:p>
          <a:p>
            <a:pPr>
              <a:spcAft>
                <a:spcPts val="700"/>
              </a:spcAft>
            </a:pPr>
            <a:r>
              <a:rPr sz="1350" b="1" dirty="0">
                <a:solidFill>
                  <a:srgbClr val="1F6F78"/>
                </a:solidFill>
                <a:latin typeface="Times New Roman"/>
              </a:rPr>
              <a:t>O5  </a:t>
            </a:r>
            <a:r>
              <a:rPr sz="1350" dirty="0">
                <a:solidFill>
                  <a:srgbClr val="161A1F"/>
                </a:solidFill>
                <a:latin typeface="Times New Roman"/>
              </a:rPr>
              <a:t>Fuse a </a:t>
            </a:r>
            <a:r>
              <a:rPr sz="1350" dirty="0" err="1">
                <a:solidFill>
                  <a:srgbClr val="161A1F"/>
                </a:solidFill>
                <a:latin typeface="Times New Roman"/>
              </a:rPr>
              <a:t>MediaPipe</a:t>
            </a:r>
            <a:r>
              <a:rPr sz="1350" dirty="0">
                <a:solidFill>
                  <a:srgbClr val="161A1F"/>
                </a:solidFill>
                <a:latin typeface="Times New Roman"/>
              </a:rPr>
              <a:t> geometric/</a:t>
            </a:r>
            <a:r>
              <a:rPr sz="1350" dirty="0" err="1">
                <a:solidFill>
                  <a:srgbClr val="161A1F"/>
                </a:solidFill>
                <a:latin typeface="Times New Roman"/>
              </a:rPr>
              <a:t>behavioural</a:t>
            </a:r>
            <a:r>
              <a:rPr sz="1350" dirty="0">
                <a:solidFill>
                  <a:srgbClr val="161A1F"/>
                </a:solidFill>
                <a:latin typeface="Times New Roman"/>
              </a:rPr>
              <a:t> branch; fit all statistics on train only.</a:t>
            </a:r>
          </a:p>
          <a:p>
            <a:pPr>
              <a:spcAft>
                <a:spcPts val="700"/>
              </a:spcAft>
            </a:pPr>
            <a:r>
              <a:rPr sz="1350" b="1" dirty="0">
                <a:solidFill>
                  <a:srgbClr val="1F6F78"/>
                </a:solidFill>
                <a:latin typeface="Times New Roman"/>
              </a:rPr>
              <a:t>O6  </a:t>
            </a:r>
            <a:r>
              <a:rPr sz="1350" dirty="0">
                <a:solidFill>
                  <a:srgbClr val="161A1F"/>
                </a:solidFill>
                <a:latin typeface="Times New Roman"/>
              </a:rPr>
              <a:t>Evaluate against explicit chance and majority baselines with significance testing.</a:t>
            </a:r>
          </a:p>
          <a:p>
            <a:pPr>
              <a:spcAft>
                <a:spcPts val="700"/>
              </a:spcAft>
            </a:pPr>
            <a:r>
              <a:rPr sz="1350" b="1" dirty="0">
                <a:solidFill>
                  <a:srgbClr val="1F6F78"/>
                </a:solidFill>
                <a:latin typeface="Times New Roman"/>
              </a:rPr>
              <a:t>O7  </a:t>
            </a:r>
            <a:r>
              <a:rPr sz="1350" dirty="0">
                <a:solidFill>
                  <a:srgbClr val="161A1F"/>
                </a:solidFill>
                <a:latin typeface="Times New Roman"/>
              </a:rPr>
              <a:t>SHAP attribution grouped into interpretable facial feature families.</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4	|			</a:t>
            </a:r>
            <a:r>
              <a:rPr lang="en-US" sz="1600" dirty="0">
                <a:latin typeface="Times New Roman" panose="02020603050405020304" pitchFamily="18" charset="0"/>
                <a:cs typeface="Times New Roman" panose="02020603050405020304" pitchFamily="18" charset="0"/>
              </a:rPr>
              <a:t>TRL - 3</a:t>
            </a: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2209800" y="4697361"/>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934973" y="4306261"/>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pic>
        <p:nvPicPr>
          <p:cNvPr id="7" name="Picture 6" descr="fig_architecture.png"/>
          <p:cNvPicPr>
            <a:picLocks noChangeAspect="1"/>
          </p:cNvPicPr>
          <p:nvPr/>
        </p:nvPicPr>
        <p:blipFill>
          <a:blip r:embed="rId2"/>
          <a:stretch>
            <a:fillRect/>
          </a:stretch>
        </p:blipFill>
        <p:spPr>
          <a:xfrm>
            <a:off x="3398519" y="1371600"/>
            <a:ext cx="5364480" cy="4389120"/>
          </a:xfrm>
          <a:prstGeom prst="rect">
            <a:avLst/>
          </a:prstGeom>
        </p:spPr>
      </p:pic>
      <p:sp>
        <p:nvSpPr>
          <p:cNvPr id="8" name="TextBox 7"/>
          <p:cNvSpPr txBox="1"/>
          <p:nvPr/>
        </p:nvSpPr>
        <p:spPr>
          <a:xfrm>
            <a:off x="548640" y="5897880"/>
            <a:ext cx="11064240" cy="310896"/>
          </a:xfrm>
          <a:prstGeom prst="rect">
            <a:avLst/>
          </a:prstGeom>
          <a:noFill/>
        </p:spPr>
        <p:txBody>
          <a:bodyPr wrap="square" lIns="36576" tIns="0" rIns="36576" bIns="0" anchor="t">
            <a:spAutoFit/>
          </a:bodyPr>
          <a:lstStyle/>
          <a:p>
            <a:pPr algn="ctr">
              <a:buNone/>
            </a:pPr>
            <a:r>
              <a:rPr sz="1200" b="0" i="1">
                <a:solidFill>
                  <a:srgbClr val="5A646E"/>
                </a:solidFill>
                <a:latin typeface="Times New Roman"/>
              </a:rPr>
              <a:t>Frozen ViT-B/16 per frame  |  MRS weighting  |  2 x Mamba temporal encoder  |  MediaPipe branch  |  fusion -&gt; 4-class MLP</a:t>
            </a:r>
          </a:p>
        </p:txBody>
      </p:sp>
    </p:spTree>
    <p:extLst>
      <p:ext uri="{BB962C8B-B14F-4D97-AF65-F5344CB8AC3E}">
        <p14:creationId xmlns:p14="http://schemas.microsoft.com/office/powerpoint/2010/main" val="6381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a:xfrm>
            <a:off x="841248" y="1463040"/>
            <a:ext cx="10515600" cy="4663440"/>
          </a:xfrm>
        </p:spPr>
        <p:txBody>
          <a:bodyPr wrap="square" anchor="t">
            <a:normAutofit/>
          </a:bodyPr>
          <a:lstStyle/>
          <a:p>
            <a:pPr>
              <a:spcAft>
                <a:spcPts val="1000"/>
              </a:spcAft>
            </a:pPr>
            <a:r>
              <a:rPr sz="1350" b="1">
                <a:solidFill>
                  <a:srgbClr val="1F6F78"/>
                </a:solidFill>
                <a:latin typeface="Times New Roman"/>
              </a:rPr>
              <a:t>FR-1 to FR-5   Dataset audit: </a:t>
            </a:r>
            <a:r>
              <a:rPr sz="1350">
                <a:solidFill>
                  <a:srgbClr val="161A1F"/>
                </a:solidFill>
                <a:latin typeface="Times New Roman"/>
              </a:rPr>
              <a:t>parse labels, join every clip, decode-probe each video, derive subject IDs, and refuse to proceed on any split overlap.</a:t>
            </a:r>
          </a:p>
          <a:p>
            <a:pPr>
              <a:spcAft>
                <a:spcPts val="1000"/>
              </a:spcAft>
            </a:pPr>
            <a:r>
              <a:rPr sz="1350" b="1">
                <a:solidFill>
                  <a:srgbClr val="1F6F78"/>
                </a:solidFill>
                <a:latin typeface="Times New Roman"/>
              </a:rPr>
              <a:t>FR-6 to FR-8   Sampling: </a:t>
            </a:r>
            <a:r>
              <a:rPr sz="1350">
                <a:solidFill>
                  <a:srgbClr val="161A1F"/>
                </a:solidFill>
                <a:latin typeface="Times New Roman"/>
              </a:rPr>
              <a:t>T uniformly spaced frames per clip (T configurable over 8/16/32/64), deterministic, always exactly T frames returned.</a:t>
            </a:r>
          </a:p>
          <a:p>
            <a:pPr>
              <a:spcAft>
                <a:spcPts val="1000"/>
              </a:spcAft>
            </a:pPr>
            <a:r>
              <a:rPr sz="1350" b="1">
                <a:solidFill>
                  <a:srgbClr val="1F6F78"/>
                </a:solidFill>
                <a:latin typeface="Times New Roman"/>
              </a:rPr>
              <a:t>FR-9 to FR-12  Face processing: </a:t>
            </a:r>
            <a:r>
              <a:rPr sz="1350">
                <a:solidFill>
                  <a:srgbClr val="161A1F"/>
                </a:solidFill>
                <a:latin typeface="Times New Roman"/>
              </a:rPr>
              <a:t>detect, roll-align on eye keypoints, pad and resize; on detection failure fall through a recorded chain - never drop the frame.</a:t>
            </a:r>
          </a:p>
          <a:p>
            <a:pPr>
              <a:spcAft>
                <a:spcPts val="1000"/>
              </a:spcAft>
            </a:pPr>
            <a:r>
              <a:rPr sz="1350" b="1">
                <a:solidFill>
                  <a:srgbClr val="1F6F78"/>
                </a:solidFill>
                <a:latin typeface="Times New Roman"/>
              </a:rPr>
              <a:t>FR-13 to FR-17 Reliability: </a:t>
            </a:r>
            <a:r>
              <a:rPr sz="1350">
                <a:solidFill>
                  <a:srgbClr val="161A1F"/>
                </a:solidFill>
                <a:latin typeface="Times New Roman"/>
              </a:rPr>
              <a:t>five components each in [0,1]; calibration fitted on the training split only; no engagement label may participate.</a:t>
            </a:r>
          </a:p>
          <a:p>
            <a:pPr>
              <a:spcAft>
                <a:spcPts val="1000"/>
              </a:spcAft>
            </a:pPr>
            <a:r>
              <a:rPr sz="1350" b="1">
                <a:solidFill>
                  <a:srgbClr val="1F6F78"/>
                </a:solidFill>
                <a:latin typeface="Times New Roman"/>
              </a:rPr>
              <a:t>FR-18 to FR-21 Features: </a:t>
            </a:r>
            <a:r>
              <a:rPr sz="1350">
                <a:solidFill>
                  <a:srgbClr val="161A1F"/>
                </a:solidFill>
                <a:latin typeface="Times New Roman"/>
              </a:rPr>
              <a:t>frozen ViT embedding (dimension discovered, not assumed); 478 landmarks + 52 blendshapes + head pose -&gt; fixed-width vector.</a:t>
            </a:r>
          </a:p>
          <a:p>
            <a:pPr>
              <a:spcAft>
                <a:spcPts val="1000"/>
              </a:spcAft>
            </a:pPr>
            <a:r>
              <a:rPr sz="1350" b="1">
                <a:solidFill>
                  <a:srgbClr val="1F6F78"/>
                </a:solidFill>
                <a:latin typeface="Times New Roman"/>
              </a:rPr>
              <a:t>FR-22 to FR-26 Model: </a:t>
            </a:r>
            <a:r>
              <a:rPr sz="1350">
                <a:solidFill>
                  <a:srgbClr val="161A1F"/>
                </a:solidFill>
                <a:latin typeface="Times New Roman"/>
              </a:rPr>
              <a:t>apply MRS without altering temporal order; Mamba encoder; pool; fuse after separate normalisation; output 4 logits.</a:t>
            </a:r>
          </a:p>
          <a:p>
            <a:pPr>
              <a:spcAft>
                <a:spcPts val="1000"/>
              </a:spcAft>
            </a:pPr>
            <a:r>
              <a:rPr sz="1350" b="1">
                <a:solidFill>
                  <a:srgbClr val="1F6F78"/>
                </a:solidFill>
                <a:latin typeface="Times New Roman"/>
              </a:rPr>
              <a:t>FR-27 to FR-32 Learning: </a:t>
            </a:r>
            <a:r>
              <a:rPr sz="1350">
                <a:solidFill>
                  <a:srgbClr val="161A1F"/>
                </a:solidFill>
                <a:latin typeface="Times New Roman"/>
              </a:rPr>
              <a:t>MRS weights initialised at 0.20 and learned; checkpoint selected on validation macro-F1, never on test.</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a:xfrm>
            <a:off x="841248" y="1463040"/>
            <a:ext cx="10515600" cy="4663440"/>
          </a:xfrm>
        </p:spPr>
        <p:txBody>
          <a:bodyPr wrap="square" anchor="t">
            <a:normAutofit/>
          </a:bodyPr>
          <a:lstStyle/>
          <a:p>
            <a:pPr>
              <a:spcAft>
                <a:spcPts val="1000"/>
              </a:spcAft>
            </a:pPr>
            <a:r>
              <a:rPr sz="1350" b="1">
                <a:solidFill>
                  <a:srgbClr val="1F6F78"/>
                </a:solidFill>
                <a:latin typeface="Times New Roman"/>
              </a:rPr>
              <a:t>M1  Dataset index and audit  </a:t>
            </a:r>
            <a:r>
              <a:rPr sz="1350">
                <a:solidFill>
                  <a:srgbClr val="161A1F"/>
                </a:solidFill>
                <a:latin typeface="Times New Roman"/>
              </a:rPr>
              <a:t>- resolves clips, joins labels, verifies subject disjointness.</a:t>
            </a:r>
          </a:p>
          <a:p>
            <a:pPr>
              <a:spcAft>
                <a:spcPts val="1000"/>
              </a:spcAft>
            </a:pPr>
            <a:r>
              <a:rPr sz="1350" b="1">
                <a:solidFill>
                  <a:srgbClr val="1F6F78"/>
                </a:solidFill>
                <a:latin typeface="Times New Roman"/>
              </a:rPr>
              <a:t>M2  Video sampling  </a:t>
            </a:r>
            <a:r>
              <a:rPr sz="1350">
                <a:solidFill>
                  <a:srgbClr val="161A1F"/>
                </a:solidFill>
                <a:latin typeface="Times New Roman"/>
              </a:rPr>
              <a:t>- uniform index rule, full sequential decode (seeking returns wrong frames).</a:t>
            </a:r>
          </a:p>
          <a:p>
            <a:pPr>
              <a:spcAft>
                <a:spcPts val="1000"/>
              </a:spcAft>
            </a:pPr>
            <a:r>
              <a:rPr sz="1350" b="1">
                <a:solidFill>
                  <a:srgbClr val="1F6F78"/>
                </a:solidFill>
                <a:latin typeface="Times New Roman"/>
              </a:rPr>
              <a:t>M3  Face processing  </a:t>
            </a:r>
            <a:r>
              <a:rPr sz="1350">
                <a:solidFill>
                  <a:srgbClr val="161A1F"/>
                </a:solidFill>
                <a:latin typeface="Times New Roman"/>
              </a:rPr>
              <a:t>- MediaPipe BlazeFace detection, roll alignment, padded crop.</a:t>
            </a:r>
          </a:p>
          <a:p>
            <a:pPr>
              <a:spcAft>
                <a:spcPts val="1000"/>
              </a:spcAft>
            </a:pPr>
            <a:r>
              <a:rPr sz="1350" b="1">
                <a:solidFill>
                  <a:srgbClr val="1F6F78"/>
                </a:solidFill>
                <a:latin typeface="Times New Roman"/>
              </a:rPr>
              <a:t>M4  Landmark extraction  </a:t>
            </a:r>
            <a:r>
              <a:rPr sz="1350">
                <a:solidFill>
                  <a:srgbClr val="161A1F"/>
                </a:solidFill>
                <a:latin typeface="Times New Roman"/>
              </a:rPr>
              <a:t>- 478 points, 52 blendshapes, 4x4 pose -&gt; 28 geometric + 52 = 80/frame.</a:t>
            </a:r>
          </a:p>
          <a:p>
            <a:pPr>
              <a:spcAft>
                <a:spcPts val="1000"/>
              </a:spcAft>
            </a:pPr>
            <a:r>
              <a:rPr sz="1350" b="1">
                <a:solidFill>
                  <a:srgbClr val="1F6F78"/>
                </a:solidFill>
                <a:latin typeface="Times New Roman"/>
              </a:rPr>
              <a:t>M5  Reliability scoring  </a:t>
            </a:r>
            <a:r>
              <a:rPr sz="1350">
                <a:solidFill>
                  <a:srgbClr val="161A1F"/>
                </a:solidFill>
                <a:latin typeface="Times New Roman"/>
              </a:rPr>
              <a:t>- five components; blur and face-size percentile-calibrated on train.</a:t>
            </a:r>
          </a:p>
          <a:p>
            <a:pPr>
              <a:spcAft>
                <a:spcPts val="1000"/>
              </a:spcAft>
            </a:pPr>
            <a:r>
              <a:rPr sz="1350" b="1">
                <a:solidFill>
                  <a:srgbClr val="1F6F78"/>
                </a:solidFill>
                <a:latin typeface="Times New Roman"/>
              </a:rPr>
              <a:t>M6  ViT encoder  </a:t>
            </a:r>
            <a:r>
              <a:rPr sz="1350">
                <a:solidFill>
                  <a:srgbClr val="161A1F"/>
                </a:solidFill>
                <a:latin typeface="Times New Roman"/>
              </a:rPr>
              <a:t>- frozen backbone, batched [B,T,C,H,W] -&gt; [B,T,768], cached to disk.</a:t>
            </a:r>
          </a:p>
          <a:p>
            <a:pPr>
              <a:spcAft>
                <a:spcPts val="1000"/>
              </a:spcAft>
            </a:pPr>
            <a:r>
              <a:rPr sz="1350" b="1">
                <a:solidFill>
                  <a:srgbClr val="1F6F78"/>
                </a:solidFill>
                <a:latin typeface="Times New Roman"/>
              </a:rPr>
              <a:t>M7  Temporal encoder  </a:t>
            </a:r>
            <a:r>
              <a:rPr sz="1350">
                <a:solidFill>
                  <a:srgbClr val="161A1F"/>
                </a:solidFill>
                <a:latin typeface="Times New Roman"/>
              </a:rPr>
              <a:t>- vendored Mamba reference; MRS weighting + reliability-weighted pooling.</a:t>
            </a:r>
          </a:p>
          <a:p>
            <a:pPr>
              <a:spcAft>
                <a:spcPts val="1000"/>
              </a:spcAft>
            </a:pPr>
            <a:r>
              <a:rPr sz="1350" b="1">
                <a:solidFill>
                  <a:srgbClr val="1F6F78"/>
                </a:solidFill>
                <a:latin typeface="Times New Roman"/>
              </a:rPr>
              <a:t>M8  Fusion and classifier  </a:t>
            </a:r>
            <a:r>
              <a:rPr sz="1350">
                <a:solidFill>
                  <a:srgbClr val="161A1F"/>
                </a:solidFill>
                <a:latin typeface="Times New Roman"/>
              </a:rPr>
              <a:t>- per-branch normalise, project to 256, concat 512 -&gt; MLP -&gt; 4.</a:t>
            </a:r>
          </a:p>
          <a:p>
            <a:pPr>
              <a:spcAft>
                <a:spcPts val="1000"/>
              </a:spcAft>
            </a:pPr>
            <a:r>
              <a:rPr sz="1350" b="1">
                <a:solidFill>
                  <a:srgbClr val="1F6F78"/>
                </a:solidFill>
                <a:latin typeface="Times New Roman"/>
              </a:rPr>
              <a:t>M9  Evaluation and explainability  </a:t>
            </a:r>
            <a:r>
              <a:rPr sz="1350">
                <a:solidFill>
                  <a:srgbClr val="161A1F"/>
                </a:solidFill>
                <a:latin typeface="Times New Roman"/>
              </a:rPr>
              <a:t>- metrics, baselines, significance, SHAP attribution.</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a:xfrm>
            <a:off x="841248" y="1371600"/>
            <a:ext cx="10515600" cy="2103120"/>
          </a:xfrm>
        </p:spPr>
        <p:txBody>
          <a:bodyPr wrap="square" anchor="t">
            <a:normAutofit/>
          </a:bodyPr>
          <a:lstStyle/>
          <a:p>
            <a:pPr>
              <a:spcAft>
                <a:spcPts val="1000"/>
              </a:spcAft>
            </a:pPr>
            <a:r>
              <a:rPr sz="1500" b="1">
                <a:solidFill>
                  <a:srgbClr val="1F6F78"/>
                </a:solidFill>
                <a:latin typeface="Times New Roman"/>
              </a:rPr>
              <a:t>Setup  </a:t>
            </a:r>
            <a:r>
              <a:rPr sz="1500">
                <a:solidFill>
                  <a:srgbClr val="161A1F"/>
                </a:solidFill>
                <a:latin typeface="Times New Roman"/>
              </a:rPr>
              <a:t>- 216 DAiSEE clips, class-balanced (54 per class), subject-disjoint. 120 train / 80 validation / 16 test, from 48 / 17 / 11 distinct participants. All 216 decode; subject overlap between every pair of splits is zero.</a:t>
            </a:r>
          </a:p>
          <a:p>
            <a:pPr>
              <a:spcAft>
                <a:spcPts val="1000"/>
              </a:spcAft>
            </a:pPr>
            <a:r>
              <a:rPr sz="1500" b="1">
                <a:solidFill>
                  <a:srgbClr val="1F6F78"/>
                </a:solidFill>
                <a:latin typeface="Times New Roman"/>
              </a:rPr>
              <a:t>Training  </a:t>
            </a:r>
            <a:r>
              <a:rPr sz="1500">
                <a:solidFill>
                  <a:srgbClr val="161A1F"/>
                </a:solidFill>
                <a:latin typeface="Times New Roman"/>
              </a:rPr>
              <a:t>- 64 epochs, AdamW, lr 3e-4 cosine, batch 8, class-weighted cross-entropy. MRS weights on a separate lr of 2e-2. Checkpoint chosen by validation macro-F1 (epoch 11).</a:t>
            </a:r>
          </a:p>
          <a:p>
            <a:pPr>
              <a:spcAft>
                <a:spcPts val="1000"/>
              </a:spcAft>
            </a:pPr>
            <a:r>
              <a:rPr sz="1500" b="1">
                <a:solidFill>
                  <a:srgbClr val="1F6F78"/>
                </a:solidFill>
                <a:latin typeface="Times New Roman"/>
              </a:rPr>
              <a:t>Baseline  </a:t>
            </a:r>
            <a:r>
              <a:rPr sz="1500">
                <a:solidFill>
                  <a:srgbClr val="161A1F"/>
                </a:solidFill>
                <a:latin typeface="Times New Roman"/>
              </a:rPr>
              <a:t>- every split is balanced, so chance accuracy is exactly 25%.</a:t>
            </a: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1371600" y="3703320"/>
          <a:ext cx="9418320" cy="10972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65760">
                <a:tc>
                  <a:txBody>
                    <a:bodyPr/>
                    <a:lstStyle/>
                    <a:p>
                      <a:pPr algn="l"/>
                      <a:r>
                        <a:rPr sz="1300" b="1">
                          <a:latin typeface="Times New Roman"/>
                        </a:rPr>
                        <a:t>Split</a:t>
                      </a:r>
                    </a:p>
                  </a:txBody>
                  <a:tcPr anchor="ctr"/>
                </a:tc>
                <a:tc>
                  <a:txBody>
                    <a:bodyPr/>
                    <a:lstStyle/>
                    <a:p>
                      <a:pPr algn="ctr"/>
                      <a:r>
                        <a:rPr sz="1300" b="1">
                          <a:latin typeface="Times New Roman"/>
                        </a:rPr>
                        <a:t>Clips</a:t>
                      </a:r>
                    </a:p>
                  </a:txBody>
                  <a:tcPr anchor="ctr"/>
                </a:tc>
                <a:tc>
                  <a:txBody>
                    <a:bodyPr/>
                    <a:lstStyle/>
                    <a:p>
                      <a:pPr algn="ctr"/>
                      <a:r>
                        <a:rPr sz="1300" b="1">
                          <a:latin typeface="Times New Roman"/>
                        </a:rPr>
                        <a:t>Accuracy</a:t>
                      </a:r>
                    </a:p>
                  </a:txBody>
                  <a:tcPr anchor="ctr"/>
                </a:tc>
                <a:tc>
                  <a:txBody>
                    <a:bodyPr/>
                    <a:lstStyle/>
                    <a:p>
                      <a:pPr algn="ctr"/>
                      <a:r>
                        <a:rPr sz="1300" b="1">
                          <a:latin typeface="Times New Roman"/>
                        </a:rPr>
                        <a:t>Weighted F1</a:t>
                      </a:r>
                    </a:p>
                  </a:txBody>
                  <a:tcPr anchor="ctr"/>
                </a:tc>
                <a:tc>
                  <a:txBody>
                    <a:bodyPr/>
                    <a:lstStyle/>
                    <a:p>
                      <a:pPr algn="ctr"/>
                      <a:r>
                        <a:rPr sz="1300" b="1">
                          <a:latin typeface="Times New Roman"/>
                        </a:rPr>
                        <a:t>Macro F1</a:t>
                      </a:r>
                    </a:p>
                  </a:txBody>
                  <a:tcPr anchor="ctr"/>
                </a:tc>
                <a:tc>
                  <a:txBody>
                    <a:bodyPr/>
                    <a:lstStyle/>
                    <a:p>
                      <a:pPr algn="ctr"/>
                      <a:r>
                        <a:rPr sz="1300" b="1">
                          <a:latin typeface="Times New Roman"/>
                        </a:rPr>
                        <a:t>Chance</a:t>
                      </a:r>
                    </a:p>
                  </a:txBody>
                  <a:tcPr anchor="ctr"/>
                </a:tc>
                <a:extLst>
                  <a:ext uri="{0D108BD9-81ED-4DB2-BD59-A6C34878D82A}">
                    <a16:rowId xmlns:a16="http://schemas.microsoft.com/office/drawing/2014/main" val="10000"/>
                  </a:ext>
                </a:extLst>
              </a:tr>
              <a:tr h="365760">
                <a:tc>
                  <a:txBody>
                    <a:bodyPr/>
                    <a:lstStyle/>
                    <a:p>
                      <a:pPr algn="l"/>
                      <a:r>
                        <a:rPr sz="1300" b="0">
                          <a:latin typeface="Times New Roman"/>
                        </a:rPr>
                        <a:t>Validation</a:t>
                      </a:r>
                    </a:p>
                  </a:txBody>
                  <a:tcPr anchor="ctr"/>
                </a:tc>
                <a:tc>
                  <a:txBody>
                    <a:bodyPr/>
                    <a:lstStyle/>
                    <a:p>
                      <a:pPr algn="ctr"/>
                      <a:r>
                        <a:rPr sz="1300" b="0">
                          <a:latin typeface="Times New Roman"/>
                        </a:rPr>
                        <a:t>80</a:t>
                      </a:r>
                    </a:p>
                  </a:txBody>
                  <a:tcPr anchor="ctr"/>
                </a:tc>
                <a:tc>
                  <a:txBody>
                    <a:bodyPr/>
                    <a:lstStyle/>
                    <a:p>
                      <a:pPr algn="ctr"/>
                      <a:r>
                        <a:rPr sz="1300" b="0">
                          <a:latin typeface="Times New Roman"/>
                        </a:rPr>
                        <a:t>0.3875</a:t>
                      </a:r>
                    </a:p>
                  </a:txBody>
                  <a:tcPr anchor="ctr"/>
                </a:tc>
                <a:tc>
                  <a:txBody>
                    <a:bodyPr/>
                    <a:lstStyle/>
                    <a:p>
                      <a:pPr algn="ctr"/>
                      <a:r>
                        <a:rPr sz="1300" b="0">
                          <a:latin typeface="Times New Roman"/>
                        </a:rPr>
                        <a:t>0.3714</a:t>
                      </a:r>
                    </a:p>
                  </a:txBody>
                  <a:tcPr anchor="ctr"/>
                </a:tc>
                <a:tc>
                  <a:txBody>
                    <a:bodyPr/>
                    <a:lstStyle/>
                    <a:p>
                      <a:pPr algn="ctr"/>
                      <a:r>
                        <a:rPr sz="1300" b="0">
                          <a:latin typeface="Times New Roman"/>
                        </a:rPr>
                        <a:t>0.3714</a:t>
                      </a:r>
                    </a:p>
                  </a:txBody>
                  <a:tcPr anchor="ctr"/>
                </a:tc>
                <a:tc>
                  <a:txBody>
                    <a:bodyPr/>
                    <a:lstStyle/>
                    <a:p>
                      <a:pPr algn="ctr"/>
                      <a:r>
                        <a:rPr sz="1300" b="0">
                          <a:latin typeface="Times New Roman"/>
                        </a:rPr>
                        <a:t>0.2500</a:t>
                      </a:r>
                    </a:p>
                  </a:txBody>
                  <a:tcPr anchor="ctr"/>
                </a:tc>
                <a:extLst>
                  <a:ext uri="{0D108BD9-81ED-4DB2-BD59-A6C34878D82A}">
                    <a16:rowId xmlns:a16="http://schemas.microsoft.com/office/drawing/2014/main" val="10001"/>
                  </a:ext>
                </a:extLst>
              </a:tr>
              <a:tr h="365760">
                <a:tc>
                  <a:txBody>
                    <a:bodyPr/>
                    <a:lstStyle/>
                    <a:p>
                      <a:pPr algn="l"/>
                      <a:r>
                        <a:rPr sz="1300" b="0">
                          <a:latin typeface="Times New Roman"/>
                        </a:rPr>
                        <a:t>Test</a:t>
                      </a:r>
                    </a:p>
                  </a:txBody>
                  <a:tcPr anchor="ctr"/>
                </a:tc>
                <a:tc>
                  <a:txBody>
                    <a:bodyPr/>
                    <a:lstStyle/>
                    <a:p>
                      <a:pPr algn="ctr"/>
                      <a:r>
                        <a:rPr sz="1300" b="0">
                          <a:latin typeface="Times New Roman"/>
                        </a:rPr>
                        <a:t>16</a:t>
                      </a:r>
                    </a:p>
                  </a:txBody>
                  <a:tcPr anchor="ctr"/>
                </a:tc>
                <a:tc>
                  <a:txBody>
                    <a:bodyPr/>
                    <a:lstStyle/>
                    <a:p>
                      <a:pPr algn="ctr"/>
                      <a:r>
                        <a:rPr sz="1300" b="0">
                          <a:latin typeface="Times New Roman"/>
                        </a:rPr>
                        <a:t>0.3750</a:t>
                      </a:r>
                    </a:p>
                  </a:txBody>
                  <a:tcPr anchor="ctr"/>
                </a:tc>
                <a:tc>
                  <a:txBody>
                    <a:bodyPr/>
                    <a:lstStyle/>
                    <a:p>
                      <a:pPr algn="ctr"/>
                      <a:r>
                        <a:rPr sz="1300" b="0">
                          <a:latin typeface="Times New Roman"/>
                        </a:rPr>
                        <a:t>0.3915</a:t>
                      </a:r>
                    </a:p>
                  </a:txBody>
                  <a:tcPr anchor="ctr"/>
                </a:tc>
                <a:tc>
                  <a:txBody>
                    <a:bodyPr/>
                    <a:lstStyle/>
                    <a:p>
                      <a:pPr algn="ctr"/>
                      <a:r>
                        <a:rPr sz="1300" b="0">
                          <a:latin typeface="Times New Roman"/>
                        </a:rPr>
                        <a:t>0.3915</a:t>
                      </a:r>
                    </a:p>
                  </a:txBody>
                  <a:tcPr anchor="ctr"/>
                </a:tc>
                <a:tc>
                  <a:txBody>
                    <a:bodyPr/>
                    <a:lstStyle/>
                    <a:p>
                      <a:pPr algn="ctr"/>
                      <a:r>
                        <a:rPr sz="1300" b="0">
                          <a:latin typeface="Times New Roman"/>
                        </a:rPr>
                        <a:t>0.2500</a:t>
                      </a:r>
                    </a:p>
                  </a:txBody>
                  <a:tcPr anchor="ctr"/>
                </a:tc>
                <a:extLst>
                  <a:ext uri="{0D108BD9-81ED-4DB2-BD59-A6C34878D82A}">
                    <a16:rowId xmlns:a16="http://schemas.microsoft.com/office/drawing/2014/main" val="10002"/>
                  </a:ext>
                </a:extLst>
              </a:tr>
            </a:tbl>
          </a:graphicData>
        </a:graphic>
      </p:graphicFrame>
      <p:sp>
        <p:nvSpPr>
          <p:cNvPr id="8" name="TextBox 7"/>
          <p:cNvSpPr txBox="1"/>
          <p:nvPr/>
        </p:nvSpPr>
        <p:spPr>
          <a:xfrm>
            <a:off x="822960" y="4983480"/>
            <a:ext cx="10515600" cy="365760"/>
          </a:xfrm>
          <a:prstGeom prst="rect">
            <a:avLst/>
          </a:prstGeom>
          <a:noFill/>
        </p:spPr>
        <p:txBody>
          <a:bodyPr wrap="square" lIns="36576" tIns="0" rIns="36576" bIns="0" anchor="t">
            <a:spAutoFit/>
          </a:bodyPr>
          <a:lstStyle/>
          <a:p>
            <a:pPr algn="ctr">
              <a:buNone/>
            </a:pPr>
            <a:r>
              <a:rPr sz="1200" b="0" i="1">
                <a:solidFill>
                  <a:srgbClr val="5A646E"/>
                </a:solidFill>
                <a:latin typeface="Times New Roman"/>
              </a:rPr>
              <a:t>Validation: 31/80 correct, one-sided binomial p = 0.0046 (significant). Test (16 clips) p = 0.19 - directionally consistent but underpowered.</a:t>
            </a:r>
          </a:p>
        </p:txBody>
      </p:sp>
    </p:spTree>
    <p:extLst>
      <p:ext uri="{BB962C8B-B14F-4D97-AF65-F5344CB8AC3E}">
        <p14:creationId xmlns:p14="http://schemas.microsoft.com/office/powerpoint/2010/main" val="366618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a:solidFill>
                  <a:srgbClr val="000000"/>
                </a:solidFill>
                <a:latin typeface="Times New Roman"/>
              </a:rPr>
              <a:t>Experiments and Results - Training Behaviour</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pic>
        <p:nvPicPr>
          <p:cNvPr id="7" name="Picture 6" descr="fig1_training_curves.png"/>
          <p:cNvPicPr>
            <a:picLocks noChangeAspect="1"/>
          </p:cNvPicPr>
          <p:nvPr/>
        </p:nvPicPr>
        <p:blipFill>
          <a:blip r:embed="rId2"/>
          <a:stretch>
            <a:fillRect/>
          </a:stretch>
        </p:blipFill>
        <p:spPr>
          <a:xfrm>
            <a:off x="2648081" y="1325880"/>
            <a:ext cx="6865357" cy="2103120"/>
          </a:xfrm>
          <a:prstGeom prst="rect">
            <a:avLst/>
          </a:prstGeom>
        </p:spPr>
      </p:pic>
      <p:sp>
        <p:nvSpPr>
          <p:cNvPr id="8" name="TextBox 7"/>
          <p:cNvSpPr txBox="1"/>
          <p:nvPr/>
        </p:nvSpPr>
        <p:spPr>
          <a:xfrm>
            <a:off x="502920" y="3456432"/>
            <a:ext cx="11155680" cy="292608"/>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Training and validation across 64 epochs. Train accuracy saturates at 1.000; validation loss rises from about epoch 5 - overfitting on 120 training clips.</a:t>
            </a:r>
          </a:p>
        </p:txBody>
      </p:sp>
      <p:pic>
        <p:nvPicPr>
          <p:cNvPr id="9" name="Picture 8" descr="fig2_mrs_weight_evolution.png"/>
          <p:cNvPicPr>
            <a:picLocks noChangeAspect="1"/>
          </p:cNvPicPr>
          <p:nvPr/>
        </p:nvPicPr>
        <p:blipFill>
          <a:blip r:embed="rId3"/>
          <a:stretch>
            <a:fillRect/>
          </a:stretch>
        </p:blipFill>
        <p:spPr>
          <a:xfrm>
            <a:off x="2763657" y="3794760"/>
            <a:ext cx="6634204" cy="2103120"/>
          </a:xfrm>
          <a:prstGeom prst="rect">
            <a:avLst/>
          </a:prstGeom>
        </p:spPr>
      </p:pic>
      <p:sp>
        <p:nvSpPr>
          <p:cNvPr id="10" name="TextBox 9"/>
          <p:cNvSpPr txBox="1"/>
          <p:nvPr/>
        </p:nvSpPr>
        <p:spPr>
          <a:xfrm>
            <a:off x="502920" y="5925312"/>
            <a:ext cx="11155680" cy="292608"/>
          </a:xfrm>
          <a:prstGeom prst="rect">
            <a:avLst/>
          </a:prstGeom>
          <a:noFill/>
        </p:spPr>
        <p:txBody>
          <a:bodyPr wrap="square" lIns="36576" tIns="0" rIns="36576" bIns="0" anchor="t">
            <a:spAutoFit/>
          </a:bodyPr>
          <a:lstStyle/>
          <a:p>
            <a:pPr algn="ctr">
              <a:buNone/>
            </a:pPr>
            <a:r>
              <a:rPr sz="1100" b="0" i="1">
                <a:solidFill>
                  <a:srgbClr val="5A646E"/>
                </a:solidFill>
                <a:latin typeface="Times New Roman"/>
              </a:rPr>
              <a:t>The five MRS weights start at 0.20 and converge to: face visibility 0.459, blur 0.236, motion 0.200, head pose 0.056, eye visibility 0.050.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dirty="0">
                <a:solidFill>
                  <a:srgbClr val="000000"/>
                </a:solidFill>
                <a:latin typeface="Times New Roman"/>
              </a:rPr>
              <a:t>Experiments and Results - Per-Class Performance</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13</a:t>
            </a:fld>
            <a:endParaRPr lang="en-IN" dirty="0">
              <a:latin typeface="Times New Roman" panose="02020603050405020304" pitchFamily="18" charset="0"/>
              <a:cs typeface="Times New Roman" panose="02020603050405020304" pitchFamily="18" charset="0"/>
            </a:endParaRPr>
          </a:p>
        </p:txBody>
      </p:sp>
      <p:pic>
        <p:nvPicPr>
          <p:cNvPr id="7" name="Picture 6" descr="fig3_per_class_metrics.png"/>
          <p:cNvPicPr>
            <a:picLocks noChangeAspect="1"/>
          </p:cNvPicPr>
          <p:nvPr/>
        </p:nvPicPr>
        <p:blipFill>
          <a:blip r:embed="rId2"/>
          <a:stretch>
            <a:fillRect/>
          </a:stretch>
        </p:blipFill>
        <p:spPr>
          <a:xfrm>
            <a:off x="2890300" y="1686955"/>
            <a:ext cx="5394960" cy="2742288"/>
          </a:xfrm>
          <a:prstGeom prst="rect">
            <a:avLst/>
          </a:prstGeom>
        </p:spPr>
      </p:pic>
      <p:sp>
        <p:nvSpPr>
          <p:cNvPr id="8" name="TextBox 7"/>
          <p:cNvSpPr txBox="1"/>
          <p:nvPr/>
        </p:nvSpPr>
        <p:spPr>
          <a:xfrm>
            <a:off x="2890300" y="4713845"/>
            <a:ext cx="5394960" cy="457200"/>
          </a:xfrm>
          <a:prstGeom prst="rect">
            <a:avLst/>
          </a:prstGeom>
          <a:noFill/>
        </p:spPr>
        <p:txBody>
          <a:bodyPr wrap="square" lIns="36576" tIns="0" rIns="36576" bIns="0" anchor="t">
            <a:spAutoFit/>
          </a:bodyPr>
          <a:lstStyle/>
          <a:p>
            <a:pPr algn="ctr">
              <a:buNone/>
            </a:pPr>
            <a:r>
              <a:rPr sz="1100" b="0" i="1" dirty="0">
                <a:solidFill>
                  <a:srgbClr val="5A646E"/>
                </a:solidFill>
                <a:latin typeface="Times New Roman"/>
              </a:rPr>
              <a:t>Per-class precision / recall / F1. All four classes are predicted.</a:t>
            </a:r>
          </a:p>
        </p:txBody>
      </p:sp>
      <p:sp>
        <p:nvSpPr>
          <p:cNvPr id="11" name="TextBox 10"/>
          <p:cNvSpPr txBox="1"/>
          <p:nvPr/>
        </p:nvSpPr>
        <p:spPr>
          <a:xfrm>
            <a:off x="548640" y="5468112"/>
            <a:ext cx="11155680" cy="184666"/>
          </a:xfrm>
          <a:prstGeom prst="rect">
            <a:avLst/>
          </a:prstGeom>
          <a:noFill/>
        </p:spPr>
        <p:txBody>
          <a:bodyPr wrap="square" tIns="0" bIns="0">
            <a:spAutoFit/>
          </a:bodyPr>
          <a:lstStyle/>
          <a:p>
            <a:pPr>
              <a:spcAft>
                <a:spcPts val="200"/>
              </a:spcAft>
              <a:buNone/>
            </a:pPr>
            <a:r>
              <a:rPr sz="1200" dirty="0">
                <a:solidFill>
                  <a:srgbClr val="161A1F"/>
                </a:solidFill>
                <a:latin typeface="Times New Roman"/>
              </a:rPr>
              <a:t>Low is the hardest class (F1 0.188): 12 of its 20 validation clips are absorbed into High - adjacent intensities are visually similar even for human annotators.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76656"/>
            <a:ext cx="10515600" cy="576072"/>
          </a:xfrm>
        </p:spPr>
        <p:txBody>
          <a:bodyPr wrap="square"/>
          <a:lstStyle/>
          <a:p>
            <a:pPr>
              <a:buNone/>
            </a:pPr>
            <a:r>
              <a:rPr sz="2600" b="1">
                <a:solidFill>
                  <a:srgbClr val="000000"/>
                </a:solidFill>
                <a:latin typeface="Times New Roman"/>
              </a:rPr>
              <a:t>Experiments and Results - Worked Examples</a:t>
            </a:r>
          </a:p>
        </p:txBody>
      </p:sp>
      <p:sp>
        <p:nvSpPr>
          <p:cNvPr id="3"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pic>
        <p:nvPicPr>
          <p:cNvPr id="7" name="Picture 6" descr="fig7_example_5000672066_landmarks.png"/>
          <p:cNvPicPr>
            <a:picLocks noChangeAspect="1"/>
          </p:cNvPicPr>
          <p:nvPr/>
        </p:nvPicPr>
        <p:blipFill>
          <a:blip r:embed="rId2"/>
          <a:stretch>
            <a:fillRect/>
          </a:stretch>
        </p:blipFill>
        <p:spPr>
          <a:xfrm>
            <a:off x="1269309" y="1325880"/>
            <a:ext cx="3953621" cy="2057400"/>
          </a:xfrm>
          <a:prstGeom prst="rect">
            <a:avLst/>
          </a:prstGeom>
        </p:spPr>
      </p:pic>
      <p:sp>
        <p:nvSpPr>
          <p:cNvPr id="8" name="TextBox 7"/>
          <p:cNvSpPr txBox="1"/>
          <p:nvPr/>
        </p:nvSpPr>
        <p:spPr>
          <a:xfrm>
            <a:off x="411480" y="3419856"/>
            <a:ext cx="5669280" cy="475488"/>
          </a:xfrm>
          <a:prstGeom prst="rect">
            <a:avLst/>
          </a:prstGeom>
          <a:noFill/>
        </p:spPr>
        <p:txBody>
          <a:bodyPr wrap="square" lIns="36576" tIns="0" rIns="36576" bIns="0" anchor="t">
            <a:spAutoFit/>
          </a:bodyPr>
          <a:lstStyle/>
          <a:p>
            <a:pPr algn="ctr">
              <a:buNone/>
            </a:pPr>
            <a:r>
              <a:rPr sz="1050" b="0" i="1">
                <a:solidFill>
                  <a:srgbClr val="5A646E"/>
                </a:solidFill>
                <a:latin typeface="Times New Roman"/>
              </a:rPr>
              <a:t>Clip 5000672066 (subject 500067) - detector 0.976, clip MRS 0.518.  True High, predicted High (p = 0.821).  CORRECT</a:t>
            </a:r>
          </a:p>
        </p:txBody>
      </p:sp>
      <p:pic>
        <p:nvPicPr>
          <p:cNvPr id="9" name="Picture 8" descr="fig7_example_5000441067_landmarks.png"/>
          <p:cNvPicPr>
            <a:picLocks noChangeAspect="1"/>
          </p:cNvPicPr>
          <p:nvPr/>
        </p:nvPicPr>
        <p:blipFill>
          <a:blip r:embed="rId3"/>
          <a:stretch>
            <a:fillRect/>
          </a:stretch>
        </p:blipFill>
        <p:spPr>
          <a:xfrm>
            <a:off x="6984309" y="1325880"/>
            <a:ext cx="3953621" cy="2057400"/>
          </a:xfrm>
          <a:prstGeom prst="rect">
            <a:avLst/>
          </a:prstGeom>
        </p:spPr>
      </p:pic>
      <p:sp>
        <p:nvSpPr>
          <p:cNvPr id="10" name="TextBox 9"/>
          <p:cNvSpPr txBox="1"/>
          <p:nvPr/>
        </p:nvSpPr>
        <p:spPr>
          <a:xfrm>
            <a:off x="6126480" y="3419856"/>
            <a:ext cx="5669280" cy="475488"/>
          </a:xfrm>
          <a:prstGeom prst="rect">
            <a:avLst/>
          </a:prstGeom>
          <a:noFill/>
        </p:spPr>
        <p:txBody>
          <a:bodyPr wrap="square" lIns="36576" tIns="0" rIns="36576" bIns="0" anchor="t">
            <a:spAutoFit/>
          </a:bodyPr>
          <a:lstStyle/>
          <a:p>
            <a:pPr algn="ctr">
              <a:buNone/>
            </a:pPr>
            <a:r>
              <a:rPr sz="1050" b="0" i="1">
                <a:solidFill>
                  <a:srgbClr val="5A646E"/>
                </a:solidFill>
                <a:latin typeface="Times New Roman"/>
              </a:rPr>
              <a:t>Clip 5000441067 (subject 500044) - clip MRS 0.331.  True Low, predicted High (p = 0.603).  INCORRECT</a:t>
            </a:r>
          </a:p>
        </p:txBody>
      </p:sp>
      <p:pic>
        <p:nvPicPr>
          <p:cNvPr id="11" name="Picture 10" descr="fig8_example_5000672066_decision.png"/>
          <p:cNvPicPr>
            <a:picLocks noChangeAspect="1"/>
          </p:cNvPicPr>
          <p:nvPr/>
        </p:nvPicPr>
        <p:blipFill>
          <a:blip r:embed="rId4"/>
          <a:stretch>
            <a:fillRect/>
          </a:stretch>
        </p:blipFill>
        <p:spPr>
          <a:xfrm>
            <a:off x="932863" y="3950208"/>
            <a:ext cx="4626512" cy="1783079"/>
          </a:xfrm>
          <a:prstGeom prst="rect">
            <a:avLst/>
          </a:prstGeom>
        </p:spPr>
      </p:pic>
      <p:pic>
        <p:nvPicPr>
          <p:cNvPr id="12" name="Picture 11" descr="fig8_example_5000441067_decision.png"/>
          <p:cNvPicPr>
            <a:picLocks noChangeAspect="1"/>
          </p:cNvPicPr>
          <p:nvPr/>
        </p:nvPicPr>
        <p:blipFill>
          <a:blip r:embed="rId5"/>
          <a:stretch>
            <a:fillRect/>
          </a:stretch>
        </p:blipFill>
        <p:spPr>
          <a:xfrm>
            <a:off x="6637313" y="3950208"/>
            <a:ext cx="4647613" cy="1783079"/>
          </a:xfrm>
          <a:prstGeom prst="rect">
            <a:avLst/>
          </a:prstGeom>
        </p:spPr>
      </p:pic>
      <p:sp>
        <p:nvSpPr>
          <p:cNvPr id="13" name="TextBox 12"/>
          <p:cNvSpPr txBox="1"/>
          <p:nvPr/>
        </p:nvSpPr>
        <p:spPr>
          <a:xfrm>
            <a:off x="457200" y="5852160"/>
            <a:ext cx="11338560" cy="365760"/>
          </a:xfrm>
          <a:prstGeom prst="rect">
            <a:avLst/>
          </a:prstGeom>
          <a:noFill/>
        </p:spPr>
        <p:txBody>
          <a:bodyPr wrap="square" lIns="36576" tIns="0" rIns="36576" bIns="0" anchor="t">
            <a:spAutoFit/>
          </a:bodyPr>
          <a:lstStyle/>
          <a:p>
            <a:pPr algn="ctr">
              <a:buNone/>
            </a:pPr>
            <a:r>
              <a:rPr sz="1200" b="1" i="0">
                <a:solidFill>
                  <a:srgbClr val="B4761F"/>
                </a:solidFill>
                <a:latin typeface="Times New Roman"/>
              </a:rPr>
              <a:t>The misclassified clip has markedly lower reliability (0.331 vs 0.518): MRS independently flagged it as poorly observed, and the prediction on it was wrong.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a:xfrm>
            <a:off x="841248" y="1463040"/>
            <a:ext cx="10515600" cy="4663440"/>
          </a:xfrm>
        </p:spPr>
        <p:txBody>
          <a:bodyPr wrap="square" anchor="t">
            <a:normAutofit/>
          </a:bodyPr>
          <a:lstStyle/>
          <a:p>
            <a:pPr>
              <a:spcAft>
                <a:spcPts val="1100"/>
              </a:spcAft>
            </a:pPr>
            <a:r>
              <a:rPr sz="1350" b="1">
                <a:solidFill>
                  <a:srgbClr val="1F6F78"/>
                </a:solidFill>
                <a:latin typeface="Times New Roman"/>
              </a:rPr>
              <a:t>Built and verified. </a:t>
            </a:r>
            <a:r>
              <a:rPr sz="1350">
                <a:solidFill>
                  <a:srgbClr val="161A1F"/>
                </a:solidFill>
                <a:latin typeface="Times New Roman"/>
              </a:rPr>
              <a:t>A complete DAiSEE pipeline: audit, sampling, face and landmark extraction, reliability scoring, frozen ViT, Mamba temporal encoder, fusion, classification and SHAP. All 216 clips process without failure.</a:t>
            </a:r>
          </a:p>
          <a:p>
            <a:pPr>
              <a:spcAft>
                <a:spcPts val="1100"/>
              </a:spcAft>
            </a:pPr>
            <a:r>
              <a:rPr sz="1350" b="1">
                <a:solidFill>
                  <a:srgbClr val="1F6F78"/>
                </a:solidFill>
                <a:latin typeface="Times New Roman"/>
              </a:rPr>
              <a:t>Reliability as a weight works. </a:t>
            </a:r>
            <a:r>
              <a:rPr sz="1350">
                <a:solidFill>
                  <a:srgbClr val="161A1F"/>
                </a:solidFill>
                <a:latin typeface="Times New Roman"/>
              </a:rPr>
              <a:t>Frames are never dropped; the sequence length and spacing are identical for every clip regardless of degradation. Under controlled degradation the score falls as expected (0.657 clean -&gt; 0.484 at 25% occlusion), so it measures what it claims to.</a:t>
            </a:r>
          </a:p>
          <a:p>
            <a:pPr>
              <a:spcAft>
                <a:spcPts val="1100"/>
              </a:spcAft>
            </a:pPr>
            <a:r>
              <a:rPr sz="1350" b="1">
                <a:solidFill>
                  <a:srgbClr val="1F6F78"/>
                </a:solidFill>
                <a:latin typeface="Times New Roman"/>
              </a:rPr>
              <a:t>Learned weights agree with independent analysis. </a:t>
            </a:r>
            <a:r>
              <a:rPr sz="1350">
                <a:solidFill>
                  <a:srgbClr val="161A1F"/>
                </a:solidFill>
                <a:latin typeface="Times New Roman"/>
              </a:rPr>
              <a:t>From a 0.20 start the optimiser concentrated on face visibility (0.459) and blur (0.236) and suppressed head pose (0.056) and eye visibility (0.050) - the same two components a separate variance analysis found to be near-constant. Head pose fell rather than rose, so no engagement cue leaked into the reliability term.</a:t>
            </a:r>
          </a:p>
          <a:p>
            <a:pPr>
              <a:spcAft>
                <a:spcPts val="1100"/>
              </a:spcAft>
            </a:pPr>
            <a:r>
              <a:rPr sz="1350" b="1">
                <a:solidFill>
                  <a:srgbClr val="1F6F78"/>
                </a:solidFill>
                <a:latin typeface="Times New Roman"/>
              </a:rPr>
              <a:t>Above chance, with the caveat stated. </a:t>
            </a:r>
            <a:r>
              <a:rPr sz="1350">
                <a:solidFill>
                  <a:srgbClr val="161A1F"/>
                </a:solidFill>
                <a:latin typeface="Times New Roman"/>
              </a:rPr>
              <a:t>38.75% validation accuracy vs 25% chance, p = 0.0046. The 16-clip test split is not statistically powered.</a:t>
            </a:r>
          </a:p>
          <a:p>
            <a:pPr>
              <a:spcAft>
                <a:spcPts val="1100"/>
              </a:spcAft>
            </a:pPr>
            <a:r>
              <a:rPr sz="1350" b="1">
                <a:solidFill>
                  <a:srgbClr val="1F6F78"/>
                </a:solidFill>
                <a:latin typeface="Times New Roman"/>
              </a:rPr>
              <a:t>Next: </a:t>
            </a:r>
            <a:r>
              <a:rPr sz="1350">
                <a:solidFill>
                  <a:srgbClr val="161A1F"/>
                </a:solidFill>
                <a:latin typeface="Times New Roman"/>
              </a:rPr>
              <a:t>scale to the full 9,068-clip DAiSEE release, run multi-seed ablations, and fit the reliability weights against degradation severity so that no label influences MRS at all.</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08-09-2026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15</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8640" y="1325880"/>
            <a:ext cx="11155680" cy="484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indent="0" eaLnBrk="0" fontAlgn="base" hangingPunct="0">
              <a:lnSpc>
                <a:spcPct val="100000"/>
              </a:lnSpc>
              <a:spcBef>
                <a:spcPct val="0"/>
              </a:spcBef>
              <a:spcAft>
                <a:spcPts val="500"/>
              </a:spcAft>
              <a:buNone/>
            </a:pPr>
            <a:r>
              <a:rPr sz="1150">
                <a:solidFill>
                  <a:srgbClr val="161A1F"/>
                </a:solidFill>
                <a:latin typeface="Times New Roman"/>
              </a:rPr>
              <a:t>[1] A. Gupta, A. D’Cunha, K. Awasthi, and V. Balasubramanian, "DAiSEE: Towards user engagement recognition in the wild," arXiv:1609.01885, 2016.</a:t>
            </a:r>
          </a:p>
          <a:p>
            <a:pPr>
              <a:spcAft>
                <a:spcPts val="500"/>
              </a:spcAft>
              <a:buNone/>
            </a:pPr>
            <a:r>
              <a:rPr sz="1150">
                <a:solidFill>
                  <a:srgbClr val="161A1F"/>
                </a:solidFill>
                <a:latin typeface="Times New Roman"/>
              </a:rPr>
              <a:t>[2] J. Whitehill, Z. Serpell, Y.-C. Lin, A. Foster, and J. R. Movellan, "The faces of engagement: Automatic recognition of student engagement from facial expressions," IEEE Trans. Affective Computing, vol. 5, no. 1, pp. 86–98, 2014.</a:t>
            </a:r>
          </a:p>
          <a:p>
            <a:pPr>
              <a:spcAft>
                <a:spcPts val="500"/>
              </a:spcAft>
              <a:buNone/>
            </a:pPr>
            <a:r>
              <a:rPr sz="1150">
                <a:solidFill>
                  <a:srgbClr val="161A1F"/>
                </a:solidFill>
                <a:latin typeface="Times New Roman"/>
              </a:rPr>
              <a:t>[3] A. Gu and T. Dao, "Mamba: Linear-time sequence modeling with selective state spaces," arXiv:2312.00752, 2023.</a:t>
            </a:r>
          </a:p>
          <a:p>
            <a:pPr>
              <a:spcAft>
                <a:spcPts val="500"/>
              </a:spcAft>
              <a:buNone/>
            </a:pPr>
            <a:r>
              <a:rPr sz="1150">
                <a:solidFill>
                  <a:srgbClr val="161A1F"/>
                </a:solidFill>
                <a:latin typeface="Times New Roman"/>
              </a:rPr>
              <a:t>[4] L. Zhu, B. Liao, Q. Zhang, X. Wang, W. Liu, and X. Wang, "Vision Mamba: Efficient visual representation learning with bidirectional state space model," in Proc. ICML, 2024.</a:t>
            </a:r>
          </a:p>
          <a:p>
            <a:pPr>
              <a:spcAft>
                <a:spcPts val="500"/>
              </a:spcAft>
              <a:buNone/>
            </a:pPr>
            <a:r>
              <a:rPr sz="1150">
                <a:solidFill>
                  <a:srgbClr val="161A1F"/>
                </a:solidFill>
                <a:latin typeface="Times New Roman"/>
              </a:rPr>
              <a:t>[5] A. Dosovitskiy et al., "An image is worth 16x16 words: Transformers for image recognition at scale," in Proc. ICLR, 2021.</a:t>
            </a:r>
          </a:p>
          <a:p>
            <a:pPr>
              <a:spcAft>
                <a:spcPts val="500"/>
              </a:spcAft>
              <a:buNone/>
            </a:pPr>
            <a:r>
              <a:rPr sz="1150">
                <a:solidFill>
                  <a:srgbClr val="161A1F"/>
                </a:solidFill>
                <a:latin typeface="Times New Roman"/>
              </a:rPr>
              <a:t>[6] C. Lugaresi et al., "MediaPipe: A framework for building perception pipelines," arXiv:1906.08172, 2019.</a:t>
            </a:r>
          </a:p>
          <a:p>
            <a:pPr>
              <a:spcAft>
                <a:spcPts val="500"/>
              </a:spcAft>
              <a:buNone/>
            </a:pPr>
            <a:r>
              <a:rPr sz="1150">
                <a:solidFill>
                  <a:srgbClr val="161A1F"/>
                </a:solidFill>
                <a:latin typeface="Times New Roman"/>
              </a:rPr>
              <a:t>[7] Y. Kartynnik, A. Ablavatski, I. Grishchenko, and M. Grundmann, "Real-time facial surface geometry from monocular video on mobile GPUs," in Proc. CVPR Workshops, 2019.</a:t>
            </a:r>
          </a:p>
          <a:p>
            <a:pPr>
              <a:spcAft>
                <a:spcPts val="500"/>
              </a:spcAft>
              <a:buNone/>
            </a:pPr>
            <a:r>
              <a:rPr sz="1150">
                <a:solidFill>
                  <a:srgbClr val="161A1F"/>
                </a:solidFill>
                <a:latin typeface="Times New Roman"/>
              </a:rPr>
              <a:t>[8] V. Bazarevsky, Y. Kartynnik, A. Vakunov, K. Raveendran, and M. Grundmann, "BlazeFace: Sub-millisecond neural face detection on mobile GPUs," arXiv:1907.05047, 2019.</a:t>
            </a:r>
          </a:p>
          <a:p>
            <a:pPr>
              <a:spcAft>
                <a:spcPts val="500"/>
              </a:spcAft>
              <a:buNone/>
            </a:pPr>
            <a:r>
              <a:rPr sz="1150">
                <a:solidFill>
                  <a:srgbClr val="161A1F"/>
                </a:solidFill>
                <a:latin typeface="Times New Roman"/>
              </a:rPr>
              <a:t>[9] J. L. Pech-Pacheco, G. Cristóbal, J. Chamorro-Martínez, and J. Fernández-Valdivia, "Diatom autofocusing in brightfield microscopy: A comparative study," in Proc. ICPR, 2000, pp. 314–317.</a:t>
            </a:r>
          </a:p>
          <a:p>
            <a:pPr>
              <a:spcAft>
                <a:spcPts val="500"/>
              </a:spcAft>
              <a:buNone/>
            </a:pPr>
            <a:r>
              <a:rPr sz="1150">
                <a:solidFill>
                  <a:srgbClr val="161A1F"/>
                </a:solidFill>
                <a:latin typeface="Times New Roman"/>
              </a:rPr>
              <a:t>[10] P. Terhörst, J. N. Kolf, N. Damer, F. Kirchbuchner, and A. Kuijper, "SER-FIQ: Unsupervised estimation of face image quality based on stochastic embedding robustness," in Proc. IEEE CVPR, 2020, pp. 5651–5660.</a:t>
            </a:r>
          </a:p>
          <a:p>
            <a:pPr>
              <a:spcAft>
                <a:spcPts val="500"/>
              </a:spcAft>
              <a:buNone/>
            </a:pPr>
            <a:r>
              <a:rPr sz="1150">
                <a:solidFill>
                  <a:srgbClr val="161A1F"/>
                </a:solidFill>
                <a:latin typeface="Times New Roman"/>
              </a:rPr>
              <a:t>[11] S. M. Lundberg and S.-I. Lee, "A unified approach to interpreting model predictions," in Proc. NeurIPS, 2017, pp. 4765–4774.</a:t>
            </a:r>
          </a:p>
          <a:p>
            <a:pPr>
              <a:spcAft>
                <a:spcPts val="500"/>
              </a:spcAft>
              <a:buNone/>
            </a:pPr>
            <a:r>
              <a:rPr sz="1150">
                <a:solidFill>
                  <a:srgbClr val="161A1F"/>
                </a:solidFill>
                <a:latin typeface="Times New Roman"/>
              </a:rPr>
              <a:t>[12] I. Loshchilov and F. Hutter, "Decoupled weight decay regularization," in Proc. ICLR, 2019.</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08-09-2026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16</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2146</Words>
  <Application>Microsoft Office PowerPoint</Application>
  <PresentationFormat>Widescreen</PresentationFormat>
  <Paragraphs>152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B.Tech. Computer Science and Engineering
BCSE497J - Project-I A RELIABILITY-GUIDED VIT–MAMBA FRAMEWORK WITH FACIAL LANDMARK FUSION FOR STUDENT ENGAGEMENT RECOGNITION</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Experiments and Results - Training Behaviour</vt:lpstr>
      <vt:lpstr>Experiments and Results - Per-Class Performance</vt:lpstr>
      <vt:lpstr>Experiments and Results - Worked Examples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Don George</cp:lastModifiedBy>
  <cp:revision>9</cp:revision>
  <dcterms:created xsi:type="dcterms:W3CDTF">2026-07-14T06:00:41Z</dcterms:created>
  <dcterms:modified xsi:type="dcterms:W3CDTF">2026-09-08T16:17:19Z</dcterms:modified>
</cp:coreProperties>
</file>