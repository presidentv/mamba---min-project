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9" r:id="rId20"/>
    <p:sldId id="270" r:id="rId21"/>
    <p:sldId id="271" r:id="rId2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800" b="1">
                <a:solidFill>
                  <a:srgbClr val="5A646E"/>
                </a:solidFill>
                <a:latin typeface="Times New Roman"/>
              </a:rPr>
              <a:t>B.Tech. Computer Science and Engineering
BCSE497J - Project-I</a:t>
            </a:r>
          </a:p>
          <a:p>
            <a:r>
              <a:rPr sz="2400" b="1">
                <a:solidFill>
                  <a:srgbClr val="1F6F78"/>
                </a:solidFill>
                <a:latin typeface="Times New Roman"/>
              </a:rPr>
              <a:t>Reliability-Guided Vision Transformer and Mamba Temporal Modelling for Student Engagement Recognition from Webcam Video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600" b="1">
                <a:solidFill>
                  <a:srgbClr val="161A1F"/>
                </a:solidFill>
                <a:latin typeface="Times New Roman"/>
              </a:rP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r>
              <a:rPr sz="1600" b="0">
                <a:solidFill>
                  <a:srgbClr val="5A646E"/>
                </a:solidFill>
                <a:latin typeface="Times New Roman"/>
              </a:rPr>
              <a:t>&lt;&lt;Name&gt;&gt;                    (&lt;&lt;Reg. No.&gt;&gt;)</a:t>
            </a:r>
          </a:p>
          <a:p>
            <a:r>
              <a:rPr sz="1600" b="0">
                <a:solidFill>
                  <a:srgbClr val="5A646E"/>
                </a:solidFill>
                <a:latin typeface="Times New Roman"/>
              </a:rPr>
              <a:t>&lt;&lt;Name&gt;&gt;                    (&lt;&lt;Reg. No.&gt;&gt;)</a:t>
            </a:r>
          </a:p>
          <a:p>
            <a:r>
              <a:rPr sz="1600" b="0">
                <a:solidFill>
                  <a:srgbClr val="5A646E"/>
                </a:solidFill>
                <a:latin typeface="Times New Roman"/>
              </a:rPr>
              <a:t>&lt;&lt;Name&gt;&gt;                    (&lt;&lt;Reg. No.&gt;&gt;)</a:t>
            </a:r>
          </a:p>
          <a:p>
            <a:r>
              <a:rPr sz="1600" b="0">
                <a:solidFill>
                  <a:srgbClr val="5A646E"/>
                </a:solidFill>
                <a:latin typeface="Times New Roman"/>
              </a:rPr>
              <a:t/>
            </a:r>
          </a:p>
          <a:p>
            <a:r>
              <a:rPr sz="1600" b="1">
                <a:solidFill>
                  <a:srgbClr val="161A1F"/>
                </a:solidFill>
                <a:latin typeface="Times New Roman"/>
              </a:rPr>
              <a:t>Faculty guide:</a:t>
            </a:r>
          </a:p>
          <a:p>
            <a:r>
              <a:rPr sz="1600" b="0">
                <a:solidFill>
                  <a:srgbClr val="5A646E"/>
                </a:solidFill>
                <a:latin typeface="Times New Roman"/>
              </a:rPr>
              <a:t>&lt;&lt;Guide name&gt;&gt;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01-09-2026.(sample attached below)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645920"/>
            <a:ext cx="10515600" cy="2926080"/>
          </a:xfrm>
        </p:spPr>
        <p:txBody>
          <a:bodyPr wrap="square" anchor="t">
            <a:normAutofit/>
          </a:bodyPr>
          <a:lstStyle/>
          <a:p>
            <a:pPr>
              <a:spcAft>
                <a:spcPts val="2200"/>
              </a:spcAft>
            </a:pPr>
            <a:r>
              <a:rPr sz="1900">
                <a:solidFill>
                  <a:srgbClr val="161A1F"/>
                </a:solidFill>
                <a:latin typeface="Times New Roman"/>
              </a:rPr>
              <a:t>To recognise student engagement from webcam video by measuring how reliable each observation is, and weighting frames accordingly - without ever discarding them - so that the temporal model receives an intact, uniformly spaced sequence.</a:t>
            </a:r>
          </a:p>
          <a:p>
            <a:pPr>
              <a:spcAft>
                <a:spcPts val="2200"/>
              </a:spcAft>
            </a:pPr>
            <a:r>
              <a:rPr sz="1900">
                <a:solidFill>
                  <a:srgbClr val="161A1F"/>
                </a:solidFill>
                <a:latin typeface="Times New Roman"/>
              </a:rPr>
              <a:t>Reliability is treated as an observation-quality signal, never as an engagement cue: a turned head means the evidence is weaker, not that the learner is disengaged.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Problem: </a:t>
            </a:r>
            <a:r>
              <a:rPr sz="1500">
                <a:solidFill>
                  <a:srgbClr val="161A1F"/>
                </a:solidFill>
                <a:latin typeface="Times New Roman"/>
              </a:rPr>
              <a:t>engagement recognition fails less because the classifier is weak than because the observations are unreliable - occlusion, blur, and faces leaving frame.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Conventional fix: </a:t>
            </a:r>
            <a:r>
              <a:rPr sz="1500">
                <a:solidFill>
                  <a:srgbClr val="161A1F"/>
                </a:solidFill>
                <a:latin typeface="Times New Roman"/>
              </a:rPr>
              <a:t>discard low-quality frames. This changes the sequence length and destroys the uniform temporal spacing a sequence model depends on.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This work: </a:t>
            </a:r>
            <a:r>
              <a:rPr sz="1500">
                <a:solidFill>
                  <a:srgbClr val="161A1F"/>
                </a:solidFill>
                <a:latin typeface="Times New Roman"/>
              </a:rPr>
              <a:t>a per-frame Motion Reliability Score (MRS) from five observation-quality signals, used as a soft weight in place of a hard gate.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Architecture: </a:t>
            </a:r>
            <a:r>
              <a:rPr sz="1500">
                <a:solidFill>
                  <a:srgbClr val="161A1F"/>
                </a:solidFill>
                <a:latin typeface="Times New Roman"/>
              </a:rPr>
              <a:t>frozen ViT-B/16 per frame -&gt; MRS weighting -&gt; Mamba selective state-space temporal encoder -&gt; fusion with a MediaPipe geometric/blendshape branch -&gt; 4-class MLP.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Novelty: </a:t>
            </a:r>
            <a:r>
              <a:rPr sz="1500">
                <a:solidFill>
                  <a:srgbClr val="161A1F"/>
                </a:solidFill>
                <a:latin typeface="Times New Roman"/>
              </a:rPr>
              <a:t>the five MRS weights start at 0.20 each and are learned by gradient descent rather than fixed by hand.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Result: </a:t>
            </a:r>
            <a:r>
              <a:rPr sz="1500">
                <a:solidFill>
                  <a:srgbClr val="161A1F"/>
                </a:solidFill>
                <a:latin typeface="Times New Roman"/>
              </a:rPr>
              <a:t>38.75% validation accuracy against a 25% chance baseline on a balanced, subject-disjoint partition (binomial p = 0.0046).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22-08-2026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298448"/>
          <a:ext cx="1124712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057400"/>
                <a:gridCol w="2697480"/>
                <a:gridCol w="2331720"/>
                <a:gridCol w="237744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Objective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Pros / Cons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Findings</a:t>
                      </a:r>
                    </a:p>
                  </a:txBody>
                  <a:tcPr marT="27432" marB="27432" marL="54864" marR="54864"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>
                          <a:latin typeface="Times New Roman"/>
                        </a:rPr>
                        <a:t>DAiSEE [1]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Benchmark engagement in the wild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9,068 webcam clips, 112 subjects; 4 affective states at 4 intensity levels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realistic uncontrolled capture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severely imbalanced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Accuracy alone is inadequate; macro-F1 and a balanced subset are needed</a:t>
                      </a:r>
                    </a:p>
                  </a:txBody>
                  <a:tcPr marT="27432" marB="27432" marL="54864" marR="54864"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>
                          <a:latin typeface="Times New Roman"/>
                        </a:rPr>
                        <a:t>Temporal models [4-6]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Treat engagement as a sequence, not a still image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CNN features fed to an LSTM; 3D convolution; frame-wise self-attention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captures long-range context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attention is quadratic in clip length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Temporal context helps, but cost grows quickly with the frame count</a:t>
                      </a:r>
                    </a:p>
                  </a:txBody>
                  <a:tcPr marT="27432" marB="27432" marL="54864" marR="54864"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>
                          <a:latin typeface="Times New Roman"/>
                        </a:rPr>
                        <a:t>Mamba [3], Vision Mamba [4]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Linear-time sequence modelling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Selective state-space model with input-dependent parameters; Vim scans image patches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linear time, selective memory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applied spatially, not across frames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Motivates scanning across frame embeddings, which is what this work does</a:t>
                      </a:r>
                    </a:p>
                  </a:txBody>
                  <a:tcPr marT="27432" marB="27432" marL="54864" marR="54864"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>
                          <a:latin typeface="Times New Roman"/>
                        </a:rPr>
                        <a:t>MediaPipe [6-8]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Recover face geometry without a separate AU model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BlazeFace detection; 478 landmarks with iris refinement; 52 ARKit blendshapes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real-time, AU-like semantics for free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degrades under occlusion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Supplies the geometric branch and four of the five MRS inputs</a:t>
                      </a:r>
                    </a:p>
                  </a:txBody>
                  <a:tcPr marT="27432" marB="27432" marL="54864" marR="54864" anchor="t"/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>
                          <a:latin typeface="Times New Roman"/>
                        </a:rPr>
                        <a:t>Face image quality [9-10]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Estimate how usable an observation is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Variance-of-Laplacian sharpness; SER-FIQ embedding-robustness quality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+ label-free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- used to filter frames out, not to weight them</a:t>
                      </a:r>
                    </a:p>
                  </a:txBody>
                  <a:tcPr marT="27432" marB="27432" marL="54864" marR="54864" anchor="t"/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latin typeface="Times New Roman"/>
                        </a:rPr>
                        <a:t>The gap addressed here: quality as a soft per-frame weight inside the model</a:t>
                      </a:r>
                    </a:p>
                  </a:txBody>
                  <a:tcPr marT="27432" marB="27432" marL="54864" marR="54864" anchor="t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554480"/>
            <a:ext cx="10515600" cy="4480560"/>
          </a:xfrm>
        </p:spPr>
        <p:txBody>
          <a:bodyPr wrap="square" anchor="t">
            <a:norm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1F6F78"/>
                </a:solidFill>
                <a:latin typeface="Times New Roman"/>
              </a:rPr>
              <a:t>1.  Reliability is used as a gate, not a weight. </a:t>
            </a:r>
            <a:r>
              <a:rPr sz="1600">
                <a:solidFill>
                  <a:srgbClr val="161A1F"/>
                </a:solidFill>
                <a:latin typeface="Times New Roman"/>
              </a:rPr>
              <a:t>Existing quality-aware pipelines threshold frame quality and delete frames below it. For a temporal model this is self-defeating: the sequence length changes, the gaps close, and a degraded clip is no longer comparable to a clean one.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1F6F78"/>
                </a:solidFill>
                <a:latin typeface="Times New Roman"/>
              </a:rPr>
              <a:t>2.  Reliability weights are asserted, not learned. </a:t>
            </a:r>
            <a:r>
              <a:rPr sz="1600">
                <a:solidFill>
                  <a:srgbClr val="161A1F"/>
                </a:solidFill>
                <a:latin typeface="Times New Roman"/>
              </a:rPr>
              <a:t>Where multi-factor quality scores exist, the relative importance of the factors is fixed by hand - usually uniform. Whether blur, occlusion, head rotation and motion deserve equal influence is an empirical question that is rarely asked.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1F6F78"/>
                </a:solidFill>
                <a:latin typeface="Times New Roman"/>
              </a:rPr>
              <a:t>3.  Reliability and behaviour are conflated. </a:t>
            </a:r>
            <a:r>
              <a:rPr sz="1600">
                <a:solidFill>
                  <a:srgbClr val="161A1F"/>
                </a:solidFill>
                <a:latin typeface="Times New Roman"/>
              </a:rPr>
              <a:t>Head rotation and eye closure are often read as disengagement. A turned head means the frontal evidence is weaker; a blink is normal behaviour. A score contaminated by the label is no longer a reliability score.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71600"/>
            <a:ext cx="10515600" cy="2926080"/>
          </a:xfrm>
        </p:spPr>
        <p:txBody>
          <a:bodyPr wrap="square" anchor="t">
            <a:normAutofit/>
          </a:bodyPr>
          <a:lstStyle/>
          <a:p>
            <a:pPr>
              <a:spcAft>
                <a:spcPts val="7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O1  </a:t>
            </a:r>
            <a:r>
              <a:rPr sz="1350">
                <a:solidFill>
                  <a:srgbClr val="161A1F"/>
                </a:solidFill>
                <a:latin typeface="Times New Roman"/>
              </a:rPr>
              <a:t>Verified DAiSEE pipeline - official split, subject disjointness measured and confirmed zero.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O2  </a:t>
            </a:r>
            <a:r>
              <a:rPr sz="1350">
                <a:solidFill>
                  <a:srgbClr val="161A1F"/>
                </a:solidFill>
                <a:latin typeface="Times New Roman"/>
              </a:rPr>
              <a:t>Five-component MRS in [0,1], computed only from observation quality.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O3  </a:t>
            </a:r>
            <a:r>
              <a:rPr sz="1350">
                <a:solidFill>
                  <a:srgbClr val="161A1F"/>
                </a:solidFill>
                <a:latin typeface="Times New Roman"/>
              </a:rPr>
              <a:t>Integrate MRS into ViT + Mamba so temporal positions are provably preserved.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O4  </a:t>
            </a:r>
            <a:r>
              <a:rPr sz="1350">
                <a:solidFill>
                  <a:srgbClr val="161A1F"/>
                </a:solidFill>
                <a:latin typeface="Times New Roman"/>
              </a:rPr>
              <a:t>Learn the five MRS weights from a 0.20 initialisation instead of fixing them.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O5  </a:t>
            </a:r>
            <a:r>
              <a:rPr sz="1350">
                <a:solidFill>
                  <a:srgbClr val="161A1F"/>
                </a:solidFill>
                <a:latin typeface="Times New Roman"/>
              </a:rPr>
              <a:t>Fuse a MediaPipe geometric/behavioural branch; fit all statistics on train only.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O6  </a:t>
            </a:r>
            <a:r>
              <a:rPr sz="1350">
                <a:solidFill>
                  <a:srgbClr val="161A1F"/>
                </a:solidFill>
                <a:latin typeface="Times New Roman"/>
              </a:rPr>
              <a:t>Evaluate against explicit chance and majority baselines with significance testing.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O7  </a:t>
            </a:r>
            <a:r>
              <a:rPr sz="1350">
                <a:solidFill>
                  <a:srgbClr val="161A1F"/>
                </a:solidFill>
                <a:latin typeface="Times New Roman"/>
              </a:rPr>
              <a:t>SHAP attribution grouped into interpretable facial feature families.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	|			|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(Patent / Conference (Scopus)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/ Journal (Scopus) / Start-up/ Product/ Others}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519" y="1371600"/>
            <a:ext cx="536448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97880"/>
            <a:ext cx="11064240" cy="310896"/>
          </a:xfrm>
          <a:prstGeom prst="rect">
            <a:avLst/>
          </a:prstGeom>
          <a:noFill/>
        </p:spPr>
        <p:txBody>
          <a:bodyPr wrap="square" anchor="t" tIns="0" bIns="0" lIns="36576" rIns="36576">
            <a:spAutoFit/>
          </a:bodyPr>
          <a:lstStyle/>
          <a:p>
            <a:pPr algn="ctr">
              <a:buNone/>
            </a:pPr>
            <a:r>
              <a:rPr sz="1200" i="1" b="0">
                <a:solidFill>
                  <a:srgbClr val="5A646E"/>
                </a:solidFill>
                <a:latin typeface="Times New Roman"/>
              </a:rPr>
              <a:t>Frozen ViT-B/16 per frame  |  MRS weighting  |  2 x Mamba temporal encoder  |  MediaPipe branch  |  fusion -&gt; 4-class MLP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FR-1 to FR-5   Dataset audit: </a:t>
            </a:r>
            <a:r>
              <a:rPr sz="1350">
                <a:solidFill>
                  <a:srgbClr val="161A1F"/>
                </a:solidFill>
                <a:latin typeface="Times New Roman"/>
              </a:rPr>
              <a:t>parse labels, join every clip, decode-probe each video, derive subject IDs, and refuse to proceed on any split overlap.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FR-6 to FR-8   Sampling: </a:t>
            </a:r>
            <a:r>
              <a:rPr sz="1350">
                <a:solidFill>
                  <a:srgbClr val="161A1F"/>
                </a:solidFill>
                <a:latin typeface="Times New Roman"/>
              </a:rPr>
              <a:t>T uniformly spaced frames per clip (T configurable over 8/16/32/64), deterministic, always exactly T frames returned.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FR-9 to FR-12  Face processing: </a:t>
            </a:r>
            <a:r>
              <a:rPr sz="1350">
                <a:solidFill>
                  <a:srgbClr val="161A1F"/>
                </a:solidFill>
                <a:latin typeface="Times New Roman"/>
              </a:rPr>
              <a:t>detect, roll-align on eye keypoints, pad and resize; on detection failure fall through a recorded chain - never drop the frame.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FR-13 to FR-17 Reliability: </a:t>
            </a:r>
            <a:r>
              <a:rPr sz="1350">
                <a:solidFill>
                  <a:srgbClr val="161A1F"/>
                </a:solidFill>
                <a:latin typeface="Times New Roman"/>
              </a:rPr>
              <a:t>five components each in [0,1]; calibration fitted on the training split only; no engagement label may participate.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FR-18 to FR-21 Features: </a:t>
            </a:r>
            <a:r>
              <a:rPr sz="1350">
                <a:solidFill>
                  <a:srgbClr val="161A1F"/>
                </a:solidFill>
                <a:latin typeface="Times New Roman"/>
              </a:rPr>
              <a:t>frozen ViT embedding (dimension discovered, not assumed); 478 landmarks + 52 blendshapes + head pose -&gt; fixed-width vector.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FR-22 to FR-26 Model: </a:t>
            </a:r>
            <a:r>
              <a:rPr sz="1350">
                <a:solidFill>
                  <a:srgbClr val="161A1F"/>
                </a:solidFill>
                <a:latin typeface="Times New Roman"/>
              </a:rPr>
              <a:t>apply MRS without altering temporal order; Mamba encoder; pool; fuse after separate normalisation; output 4 logits.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FR-27 to FR-32 Learning: </a:t>
            </a:r>
            <a:r>
              <a:rPr sz="1350">
                <a:solidFill>
                  <a:srgbClr val="161A1F"/>
                </a:solidFill>
                <a:latin typeface="Times New Roman"/>
              </a:rPr>
              <a:t>MRS weights initialised at 0.20 and learned; checkpoint selected on validation macro-F1, never on test.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M1  Dataset index and audit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resolves clips, joins labels, verifies subject disjointness.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M2  Video sampling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uniform index rule, full sequential decode (seeking returns wrong frames).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M3  Face processing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MediaPipe BlazeFace detection, roll alignment, padded crop.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M4  Landmark extraction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- 478 points, 52 blendshapes, 4x4 pose -&gt; 28 geometric + 52 = 80/frame.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M5  Reliability scoring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five components; blur and face-size percentile-calibrated on train.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M6  ViT encoder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frozen backbone, batched [B,T,C,H,W] -&gt; [B,T,768], cached to disk.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M7  Temporal encoder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vendored Mamba reference; MRS weighting + reliability-weighted pooling.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M8  Fusion and classifier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per-branch normalise, project to 256, concat 512 -&gt; MLP -&gt; 4.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M9  Evaluation and explainability  </a:t>
            </a:r>
            <a:r>
              <a:rPr sz="1350">
                <a:solidFill>
                  <a:srgbClr val="161A1F"/>
                </a:solidFill>
                <a:latin typeface="Times New Roman"/>
              </a:rPr>
              <a:t>- metrics, baselines, significance, SHAP attribution.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71600"/>
            <a:ext cx="10515600" cy="2103120"/>
          </a:xfrm>
        </p:spPr>
        <p:txBody>
          <a:bodyPr wrap="square" anchor="t">
            <a:norm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Setup  </a:t>
            </a:r>
            <a:r>
              <a:rPr sz="1500">
                <a:solidFill>
                  <a:srgbClr val="161A1F"/>
                </a:solidFill>
                <a:latin typeface="Times New Roman"/>
              </a:rPr>
              <a:t>- 216 DAiSEE clips, class-balanced (54 per class), subject-disjoint. 120 train / 80 validation / 16 test, from 48 / 17 / 11 distinct participants. All 216 decode; subject overlap between every pair of splits is zero.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Training  </a:t>
            </a:r>
            <a:r>
              <a:rPr sz="1500">
                <a:solidFill>
                  <a:srgbClr val="161A1F"/>
                </a:solidFill>
                <a:latin typeface="Times New Roman"/>
              </a:rPr>
              <a:t>- 64 epochs, AdamW, lr 3e-4 cosine, batch 8, class-weighted cross-entropy. MRS weights on a separate lr of 2e-2. Checkpoint chosen by validation macro-F1 (epoch 11).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78"/>
                </a:solidFill>
                <a:latin typeface="Times New Roman"/>
              </a:rPr>
              <a:t>Baseline  </a:t>
            </a:r>
            <a:r>
              <a:rPr sz="1500">
                <a:solidFill>
                  <a:srgbClr val="161A1F"/>
                </a:solidFill>
                <a:latin typeface="Times New Roman"/>
              </a:rPr>
              <a:t>- every split is balanced, so chance accuracy is exactly 25%.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3703320"/>
          <a:ext cx="9418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645920"/>
                <a:gridCol w="1737360"/>
                <a:gridCol w="15544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latin typeface="Times New Roman"/>
                        </a:rPr>
                        <a:t>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Clips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Weighted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Macro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latin typeface="Times New Roman"/>
                        </a:rPr>
                        <a:t>Chance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Times New Roman"/>
                        </a:rPr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0.3875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0.2500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latin typeface="Times New Roman"/>
                        </a:rPr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0.3750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0.3915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latin typeface="Times New Roman"/>
                        </a:rPr>
                        <a:t>0.2500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</p:spPr>
        <p:txBody>
          <a:bodyPr wrap="square" anchor="t" tIns="0" bIns="0" lIns="36576" rIns="36576">
            <a:spAutoFit/>
          </a:bodyPr>
          <a:lstStyle/>
          <a:p>
            <a:pPr algn="ctr">
              <a:buNone/>
            </a:pPr>
            <a:r>
              <a:rPr sz="1200" i="1" b="0">
                <a:solidFill>
                  <a:srgbClr val="5A646E"/>
                </a:solidFill>
                <a:latin typeface="Times New Roman"/>
              </a:rPr>
              <a:t>Validation: 31/80 correct, one-sided binomial p = 0.0046 (significant). Test (16 clips) p = 0.19 - directionally consistent but underpowered.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4663440"/>
          </a:xfrm>
        </p:spPr>
        <p:txBody>
          <a:bodyPr wrap="square" anchor="t">
            <a:normAutofit/>
          </a:bodyPr>
          <a:lstStyle/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Built and verified. </a:t>
            </a:r>
            <a:r>
              <a:rPr sz="1350">
                <a:solidFill>
                  <a:srgbClr val="161A1F"/>
                </a:solidFill>
                <a:latin typeface="Times New Roman"/>
              </a:rPr>
              <a:t>A complete DAiSEE pipeline: audit, sampling, face and landmark extraction, reliability scoring, frozen ViT, Mamba temporal encoder, fusion, classification and SHAP. All 216 clips process without failure.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Reliability as a weight works. </a:t>
            </a:r>
            <a:r>
              <a:rPr sz="1350">
                <a:solidFill>
                  <a:srgbClr val="161A1F"/>
                </a:solidFill>
                <a:latin typeface="Times New Roman"/>
              </a:rPr>
              <a:t>Frames are never dropped; the sequence length and spacing are identical for every clip regardless of degradation. Under controlled degradation the score falls as expected (0.657 clean -&gt; 0.484 at 25% occlusion), so it measures what it claims to.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Learned weights agree with independent analysis. </a:t>
            </a:r>
            <a:r>
              <a:rPr sz="1350">
                <a:solidFill>
                  <a:srgbClr val="161A1F"/>
                </a:solidFill>
                <a:latin typeface="Times New Roman"/>
              </a:rPr>
              <a:t>From a 0.20 start the optimiser concentrated on face visibility (0.459) and blur (0.236) and suppressed head pose (0.056) and eye visibility (0.050) - the same two components a separate variance analysis found to be near-constant. Head pose fell rather than rose, so no engagement cue leaked into the reliability term.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Above chance, with the caveat stated. </a:t>
            </a:r>
            <a:r>
              <a:rPr sz="1350">
                <a:solidFill>
                  <a:srgbClr val="161A1F"/>
                </a:solidFill>
                <a:latin typeface="Times New Roman"/>
              </a:rPr>
              <a:t>38.75% validation accuracy vs 25% chance, p = 0.0046. The 16-clip test split is not statistically powered.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1F6F78"/>
                </a:solidFill>
                <a:latin typeface="Times New Roman"/>
              </a:rPr>
              <a:t>Next: </a:t>
            </a:r>
            <a:r>
              <a:rPr sz="1350">
                <a:solidFill>
                  <a:srgbClr val="161A1F"/>
                </a:solidFill>
                <a:latin typeface="Times New Roman"/>
              </a:rPr>
              <a:t>scale to the full 9,068-clip DAiSEE release, run multi-seed ablations, and fit the reliability weights against degradation severity so that no label influences MRS at all.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8640" y="1325880"/>
            <a:ext cx="11155680" cy="484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[1] A. Gupta, A. D’Cunha, K. Awasthi, and V. Balasubramanian, "DAiSEE: Towards user engagement recognition in the wild," arXiv:1609.01885, 2016.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[2] J. Whitehill, Z. Serpell, Y.-C. Lin, A. Foster, and J. R. Movellan, "The faces of engagement: Automatic recognition of student engagement from facial expressions," IEEE Trans. Affective Computing, vol. 5, no. 1, pp. 86–98, 2014.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[3] A. Gu and T. Dao, "Mamba: Linear-time sequence modeling with selective state spaces," arXiv:2312.00752, 2023.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[4] L. Zhu, B. Liao, Q. Zhang, X. Wang, W. Liu, and X. Wang, "Vision Mamba: Efficient visual representation learning with bidirectional state space model," in Proc. ICML, 2024.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[5] A. Dosovitskiy et al., "An image is worth 16x16 words: Transformers for image recognition at scale," in Proc. ICLR, 2021.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[6] C. Lugaresi et al., "MediaPipe: A framework for building perception pipelines," arXiv:1906.08172, 2019.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[7] Y. Kartynnik, A. Ablavatski, I. Grishchenko, and M. Grundmann, "Real-time facial surface geometry from monocular video on mobile GPUs," in Proc. CVPR Workshops, 2019.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[8] V. Bazarevsky, Y. Kartynnik, A. Vakunov, K. Raveendran, and M. Grundmann, "BlazeFace: Sub-millisecond neural face detection on mobile GPUs," arXiv:1907.05047, 2019.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[9] J. L. Pech-Pacheco, G. Cristóbal, J. Chamorro-Martínez, and J. Fernández-Valdivia, "Diatom autofocusing in brightfield microscopy: A comparative study," in Proc. ICPR, 2000, pp. 314–317.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[10] P. Terhörst, J. N. Kolf, N. Damer, F. Kirchbuchner, and A. Kuijper, "SER-FIQ: Unsupervised estimation of face image quality based on stochastic embedding robustness," in Proc. IEEE CVPR, 2020, pp. 5651–5660.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[11] S. M. Lundberg and S.-I. Lee, "A unified approach to interpreting model predictions," in Proc. NeurIPS, 2017, pp. 4765–4774.</a:t>
            </a:r>
          </a:p>
          <a:p>
            <a:pPr>
              <a:spcAft>
                <a:spcPts val="500"/>
              </a:spcAft>
              <a:buNone/>
            </a:pPr>
            <a:r>
              <a:rPr sz="1150">
                <a:solidFill>
                  <a:srgbClr val="161A1F"/>
                </a:solidFill>
                <a:latin typeface="Times New Roman"/>
              </a:rPr>
              <a:t>[12] I. Loshchilov and F. Hutter, "Decoupled weight decay regularization," in Proc. ICLR, 2019.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6656"/>
            <a:ext cx="10515600" cy="576072"/>
          </a:xfrm>
        </p:spPr>
        <p:txBody>
          <a:bodyPr wrap="square"/>
          <a:lstStyle/>
          <a:p>
            <a:pPr>
              <a:buNone/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Experiments and Results - Training Behaviour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1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81" y="1325880"/>
            <a:ext cx="6865357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456432"/>
            <a:ext cx="11155680" cy="292608"/>
          </a:xfrm>
          <a:prstGeom prst="rect">
            <a:avLst/>
          </a:prstGeom>
          <a:noFill/>
        </p:spPr>
        <p:txBody>
          <a:bodyPr wrap="square" anchor="t" tIns="0" bIns="0" lIns="36576" rIns="36576">
            <a:spAutoFit/>
          </a:bodyPr>
          <a:lstStyle/>
          <a:p>
            <a:pPr algn="ctr">
              <a:buNone/>
            </a:pPr>
            <a:r>
              <a:rPr sz="1100" i="1" b="0">
                <a:solidFill>
                  <a:srgbClr val="5A646E"/>
                </a:solidFill>
                <a:latin typeface="Times New Roman"/>
              </a:rPr>
              <a:t>Training and validation across 64 epochs. Train accuracy saturates at 1.000; validation loss rises from about epoch 5 - overfitting on 120 training clips.</a:t>
            </a:r>
          </a:p>
        </p:txBody>
      </p:sp>
      <p:pic>
        <p:nvPicPr>
          <p:cNvPr id="9" name="Picture 8" descr="fig2_mrs_weight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657" y="3794760"/>
            <a:ext cx="6634204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25312"/>
            <a:ext cx="11155680" cy="292608"/>
          </a:xfrm>
          <a:prstGeom prst="rect">
            <a:avLst/>
          </a:prstGeom>
          <a:noFill/>
        </p:spPr>
        <p:txBody>
          <a:bodyPr wrap="square" anchor="t" tIns="0" bIns="0" lIns="36576" rIns="36576">
            <a:spAutoFit/>
          </a:bodyPr>
          <a:lstStyle/>
          <a:p>
            <a:pPr algn="ctr">
              <a:buNone/>
            </a:pPr>
            <a:r>
              <a:rPr sz="1100" i="1" b="0">
                <a:solidFill>
                  <a:srgbClr val="5A646E"/>
                </a:solidFill>
                <a:latin typeface="Times New Roman"/>
              </a:rPr>
              <a:t>The five MRS weights start at 0.20 and converge to: face visibility 0.459, blur 0.236, motion 0.200, head pose 0.056, eye visibility 0.050.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6656"/>
            <a:ext cx="10515600" cy="576072"/>
          </a:xfrm>
        </p:spPr>
        <p:txBody>
          <a:bodyPr wrap="square"/>
          <a:lstStyle/>
          <a:p>
            <a:pPr>
              <a:buNone/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Experiments and Results - Per-Class Performance and SHAP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3_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2095"/>
            <a:ext cx="5394960" cy="2742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864608"/>
            <a:ext cx="5394960" cy="457200"/>
          </a:xfrm>
          <a:prstGeom prst="rect">
            <a:avLst/>
          </a:prstGeom>
          <a:noFill/>
        </p:spPr>
        <p:txBody>
          <a:bodyPr wrap="square" anchor="t" tIns="0" bIns="0" lIns="36576" rIns="36576">
            <a:spAutoFit/>
          </a:bodyPr>
          <a:lstStyle/>
          <a:p>
            <a:pPr algn="ctr">
              <a:buNone/>
            </a:pPr>
            <a:r>
              <a:rPr sz="1100" i="1" b="0">
                <a:solidFill>
                  <a:srgbClr val="5A646E"/>
                </a:solidFill>
                <a:latin typeface="Times New Roman"/>
              </a:rPr>
              <a:t>Per-class precision / recall / F1. All four classes are predicted.</a:t>
            </a:r>
          </a:p>
        </p:txBody>
      </p:sp>
      <p:pic>
        <p:nvPicPr>
          <p:cNvPr id="9" name="Picture 8" descr="fig5_shap_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78420"/>
            <a:ext cx="5577840" cy="1969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864608"/>
            <a:ext cx="5577840" cy="457200"/>
          </a:xfrm>
          <a:prstGeom prst="rect">
            <a:avLst/>
          </a:prstGeom>
          <a:noFill/>
        </p:spPr>
        <p:txBody>
          <a:bodyPr wrap="square" anchor="t" tIns="0" bIns="0" lIns="36576" rIns="36576">
            <a:spAutoFit/>
          </a:bodyPr>
          <a:lstStyle/>
          <a:p>
            <a:pPr algn="ctr">
              <a:buNone/>
            </a:pPr>
            <a:r>
              <a:rPr sz="1100" i="1" b="0">
                <a:solidFill>
                  <a:srgbClr val="5A646E"/>
                </a:solidFill>
                <a:latin typeface="Times New Roman"/>
              </a:rPr>
              <a:t>SHAP attribution by feature group - iris/gaze is the strongest landmark contributor per dimension.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68112"/>
            <a:ext cx="11155680" cy="7772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1200">
                <a:solidFill>
                  <a:srgbClr val="161A1F"/>
                </a:solidFill>
                <a:latin typeface="Times New Roman"/>
              </a:rPr>
              <a:t>Low is the hardest class (F1 0.188): 12 of its 20 validation clips are absorbed into High - adjacent intensities are visually similar even for human annotators.</a:t>
            </a:r>
          </a:p>
          <a:p>
            <a:pPr>
              <a:spcAft>
                <a:spcPts val="200"/>
              </a:spcAft>
              <a:buNone/>
            </a:pPr>
            <a:r>
              <a:rPr sz="1200">
                <a:solidFill>
                  <a:srgbClr val="161A1F"/>
                </a:solidFill>
                <a:latin typeface="Times New Roman"/>
              </a:rPr>
              <a:t>SHAP reports what the model relied on, not causation.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6656"/>
            <a:ext cx="10515600" cy="576072"/>
          </a:xfrm>
        </p:spPr>
        <p:txBody>
          <a:bodyPr wrap="square"/>
          <a:lstStyle/>
          <a:p>
            <a:pPr>
              <a:buNone/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Experiments and Results - Worked Examples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7_example_5000672066_land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309" y="1325880"/>
            <a:ext cx="3953621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419856"/>
            <a:ext cx="5669280" cy="475488"/>
          </a:xfrm>
          <a:prstGeom prst="rect">
            <a:avLst/>
          </a:prstGeom>
          <a:noFill/>
        </p:spPr>
        <p:txBody>
          <a:bodyPr wrap="square" anchor="t" tIns="0" bIns="0" lIns="36576" rIns="36576">
            <a:spAutoFit/>
          </a:bodyPr>
          <a:lstStyle/>
          <a:p>
            <a:pPr algn="ctr">
              <a:buNone/>
            </a:pPr>
            <a:r>
              <a:rPr sz="1050" i="1" b="0">
                <a:solidFill>
                  <a:srgbClr val="5A646E"/>
                </a:solidFill>
                <a:latin typeface="Times New Roman"/>
              </a:rPr>
              <a:t>Clip 5000672066 (subject 500067) - detector 0.976, clip MRS 0.518.  True High, predicted High (p = 0.821).  CORRECT</a:t>
            </a:r>
          </a:p>
        </p:txBody>
      </p:sp>
      <p:pic>
        <p:nvPicPr>
          <p:cNvPr id="9" name="Picture 8" descr="fig7_example_5000441067_land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309" y="1325880"/>
            <a:ext cx="3953621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3419856"/>
            <a:ext cx="5669280" cy="475488"/>
          </a:xfrm>
          <a:prstGeom prst="rect">
            <a:avLst/>
          </a:prstGeom>
          <a:noFill/>
        </p:spPr>
        <p:txBody>
          <a:bodyPr wrap="square" anchor="t" tIns="0" bIns="0" lIns="36576" rIns="36576">
            <a:spAutoFit/>
          </a:bodyPr>
          <a:lstStyle/>
          <a:p>
            <a:pPr algn="ctr">
              <a:buNone/>
            </a:pPr>
            <a:r>
              <a:rPr sz="1050" i="1" b="0">
                <a:solidFill>
                  <a:srgbClr val="5A646E"/>
                </a:solidFill>
                <a:latin typeface="Times New Roman"/>
              </a:rPr>
              <a:t>Clip 5000441067 (subject 500044) - clip MRS 0.331.  True Low, predicted High (p = 0.603).  INCORRECT</a:t>
            </a:r>
          </a:p>
        </p:txBody>
      </p:sp>
      <p:pic>
        <p:nvPicPr>
          <p:cNvPr id="11" name="Picture 10" descr="fig8_example_5000672066_dec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63" y="3950208"/>
            <a:ext cx="4626512" cy="1783079"/>
          </a:xfrm>
          <a:prstGeom prst="rect">
            <a:avLst/>
          </a:prstGeom>
        </p:spPr>
      </p:pic>
      <p:pic>
        <p:nvPicPr>
          <p:cNvPr id="12" name="Picture 11" descr="fig8_example_5000441067_deci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313" y="3950208"/>
            <a:ext cx="4647613" cy="17830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852160"/>
            <a:ext cx="11338560" cy="365760"/>
          </a:xfrm>
          <a:prstGeom prst="rect">
            <a:avLst/>
          </a:prstGeom>
          <a:noFill/>
        </p:spPr>
        <p:txBody>
          <a:bodyPr wrap="square" anchor="t" tIns="0" bIns="0" lIns="36576" rIns="36576">
            <a:spAutoFit/>
          </a:bodyPr>
          <a:lstStyle/>
          <a:p>
            <a:pPr algn="ctr">
              <a:buNone/>
            </a:pPr>
            <a:r>
              <a:rPr sz="1200" i="0" b="1">
                <a:solidFill>
                  <a:srgbClr val="B4761F"/>
                </a:solidFill>
                <a:latin typeface="Times New Roman"/>
              </a:rPr>
              <a:t>The misclassified clip has markedly lower reliability (0.331 vs 0.518): MRS independently flagged it as poorly observed, and the prediction on it was wrong.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