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37160" cy="2926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9202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MRG-ViT–Mamba Architecture</a:t>
            </a:r>
          </a:p>
          <a:p>
            <a:pPr>
              <a:spcBef>
                <a:spcPts val="1000"/>
              </a:spcBef>
              <a:defRPr sz="1800">
                <a:solidFill>
                  <a:srgbClr val="0D9488"/>
                </a:solidFill>
              </a:defRPr>
            </a:pPr>
            <a:r>
              <a:t>Reliability-Guided ViT + Mamba Temporal Modeling for Student Engagement Recognition</a:t>
            </a:r>
          </a:p>
          <a:p>
            <a:pPr>
              <a:spcBef>
                <a:spcPts val="2400"/>
              </a:spcBef>
              <a:defRPr sz="1300">
                <a:solidFill>
                  <a:srgbClr val="94A3B8"/>
                </a:solidFill>
              </a:defRPr>
            </a:pPr>
            <a:r>
              <a:t>DAiSEE Dataset Benchmark | Subject-Disjoint Pipeline Verification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Date: September 2026  •  Status: Fully Verified (38 Unit Tests Passed)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MRG-VIT–MAMBA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Executive Summary: Motivation &amp; Challenges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The Online Engagement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b="1" sz="1150">
                <a:solidFill>
                  <a:srgbClr val="1E293B"/>
                </a:solidFill>
              </a:rPr>
              <a:t>• Real-World Webcam Noise: </a:t>
            </a:r>
            <a:r>
              <a:rPr sz="1150">
                <a:solidFill>
                  <a:srgbClr val="64748B"/>
                </a:solidFill>
              </a:rPr>
              <a:t>Webcam video during online learning contains heavy noise—motion blur, dark lighting, head rotation, and hand occlusions.</a:t>
            </a:r>
          </a:p>
          <a:p>
            <a:pPr>
              <a:spcAft>
                <a:spcPts val="1200"/>
              </a:spcAft>
            </a:pPr>
            <a:r>
              <a:rPr b="1" sz="1150">
                <a:solidFill>
                  <a:srgbClr val="1E293B"/>
                </a:solidFill>
              </a:rPr>
              <a:t>• False Disengagement Signals: </a:t>
            </a:r>
            <a:r>
              <a:rPr sz="1150">
                <a:solidFill>
                  <a:srgbClr val="64748B"/>
                </a:solidFill>
              </a:rPr>
              <a:t>Standard AI models mistake poor frame quality or a turned head for 'disengagement.'</a:t>
            </a:r>
          </a:p>
          <a:p>
            <a:pPr>
              <a:spcAft>
                <a:spcPts val="1200"/>
              </a:spcAft>
            </a:pPr>
            <a:r>
              <a:rPr b="1" sz="1150">
                <a:solidFill>
                  <a:srgbClr val="1E293B"/>
                </a:solidFill>
              </a:rPr>
              <a:t>• Dataset Challenges: </a:t>
            </a:r>
            <a:r>
              <a:rPr sz="1150">
                <a:solidFill>
                  <a:srgbClr val="64748B"/>
                </a:solidFill>
              </a:rPr>
              <a:t>Models often overfit subject facial identity rather than learning invariant engagement features.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Our Proposed MRG-ViT–Mamba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150">
                <a:solidFill>
                  <a:srgbClr val="1E3A8A"/>
                </a:solidFill>
              </a:rPr>
              <a:t>• Motion Reliability Score (MRS): </a:t>
            </a:r>
            <a:r>
              <a:rPr sz="1150">
                <a:solidFill>
                  <a:srgbClr val="64748B"/>
                </a:solidFill>
              </a:rPr>
              <a:t>Quantifies observation quality (blur, size, pose, eyes, motion) into a trust score r_t ∈ [0, 1] per frame.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1E3A8A"/>
                </a:solidFill>
              </a:rPr>
              <a:t>• ViT Spatial Encoding: </a:t>
            </a:r>
            <a:r>
              <a:rPr sz="1150">
                <a:solidFill>
                  <a:srgbClr val="64748B"/>
                </a:solidFill>
              </a:rPr>
              <a:t>Frozen ImageNet ViT-B/16 extracts rich 768-dim spatial representations per frame.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1E3A8A"/>
                </a:solidFill>
              </a:rPr>
              <a:t>• Mamba S6 Temporal SSM: </a:t>
            </a:r>
            <a:r>
              <a:rPr sz="1150">
                <a:solidFill>
                  <a:srgbClr val="64748B"/>
                </a:solidFill>
              </a:rPr>
              <a:t>2-layer Mamba selective state-space model captures expression dynamics across sequence frames efficiently.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1E3A8A"/>
                </a:solidFill>
              </a:rPr>
              <a:t>• MediaPipe Blendshape Fusion: </a:t>
            </a:r>
            <a:r>
              <a:rPr sz="1150">
                <a:solidFill>
                  <a:srgbClr val="64748B"/>
                </a:solidFill>
              </a:rPr>
              <a:t>Combines 28 geometric metrics + 52 ARKit blendshapes (240 dimensions) for micro-expression read-out.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MRG-VIT–MAMBA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System Architecture &amp; End-to-End Dataflow</a:t>
            </a:r>
          </a:p>
        </p:txBody>
      </p:sp>
      <p:pic>
        <p:nvPicPr>
          <p:cNvPr id="6" name="Picture 5" descr="architecture_diagram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3784113" cy="5212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28016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41731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Pipeline 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100">
                <a:solidFill>
                  <a:srgbClr val="1E3A8A"/>
                </a:solidFill>
              </a:rPr>
              <a:t>✔ Sampling: </a:t>
            </a:r>
            <a:r>
              <a:rPr sz="1050">
                <a:solidFill>
                  <a:srgbClr val="64748B"/>
                </a:solidFill>
              </a:rPr>
              <a:t>T=16 uniform frames from 10s video.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E3A8A"/>
                </a:solidFill>
              </a:rPr>
              <a:t>✔ Face Alignment: </a:t>
            </a:r>
            <a:r>
              <a:rPr sz="1050">
                <a:solidFill>
                  <a:srgbClr val="64748B"/>
                </a:solidFill>
              </a:rPr>
              <a:t>Roll alignment via eye keypoints + 256px crop.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E3A8A"/>
                </a:solidFill>
              </a:rPr>
              <a:t>✔ MRS Score: </a:t>
            </a:r>
            <a:r>
              <a:rPr sz="1050">
                <a:solidFill>
                  <a:srgbClr val="64748B"/>
                </a:solidFill>
              </a:rPr>
              <a:t>5 quality terms (blur, pose, size, eyes, motion).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E3A8A"/>
                </a:solidFill>
              </a:rPr>
              <a:t>✔ Dual Branches: </a:t>
            </a:r>
            <a:r>
              <a:rPr sz="1050">
                <a:solidFill>
                  <a:srgbClr val="64748B"/>
                </a:solidFill>
              </a:rPr>
              <a:t>Deep ViT-Mamba (256d) + MediaPipe Landmarks (256d).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E3A8A"/>
                </a:solidFill>
              </a:rPr>
              <a:t>✔ Fusion &amp; MLP: </a:t>
            </a:r>
            <a:r>
              <a:rPr sz="1050">
                <a:solidFill>
                  <a:srgbClr val="64748B"/>
                </a:solidFill>
              </a:rPr>
              <a:t>512-dim concat -&gt; 3-layer MLP -&gt; 4 Class Logits.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MRG-VIT–MAMBA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Motion Reliability Score (MRS) Mechanics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698480" cy="10058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MRS Formula:   MRS_t = 0.2·B_t  +  0.2·F_t  +  0.2·H_t  +  0.2·E_t  +  0.2·M_t</a:t>
            </a:r>
          </a:p>
          <a:p>
            <a:pPr algn="ctr">
              <a:defRPr sz="1100">
                <a:solidFill>
                  <a:srgbClr val="0D9488"/>
                </a:solidFill>
              </a:defRPr>
            </a:pPr>
            <a:r>
              <a:t>Measures observation quality per frame in range [0.0, 1.0] without touching engagement labels.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205740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B: Blur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1874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Variance of Laplacian on face crop mapped through train percentiles.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2377440"/>
            <a:ext cx="205740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25146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F: Face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926080"/>
            <a:ext cx="1874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Detector confidence multiplied by face area fraction ramp.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2377440"/>
            <a:ext cx="205740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66944" y="25146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H: Head 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3" y="2926080"/>
            <a:ext cx="1874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1.0 below 15° yaw/pitch; penalizes head rotation above 60°.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0336" y="2377440"/>
            <a:ext cx="205740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43215" y="25146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E: Eye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1775" y="2926080"/>
            <a:ext cx="1874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Fraction of key eye/iris points localizable in frame.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36608" y="2377440"/>
            <a:ext cx="205740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9488" y="251460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M: Motion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8048" y="2926080"/>
            <a:ext cx="1874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Inter-ocular landmark velocity (falls back to crop ZNCC).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MRG-VIT–MAMBA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Dual-Branch Deep &amp; Geometric Feature Extraction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Branch 1: Deep ViT-Mamba Temporal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100">
                <a:solidFill>
                  <a:srgbClr val="1E3A8A"/>
                </a:solidFill>
              </a:rPr>
              <a:t>• ViT-B/16 Encoder: </a:t>
            </a:r>
            <a:r>
              <a:rPr sz="1050">
                <a:solidFill>
                  <a:srgbClr val="64748B"/>
                </a:solidFill>
              </a:rPr>
              <a:t>Pre-trained ImageNet ViT (85.8M frozen params) extracts spatial tensor [B, T, 768].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E3A8A"/>
                </a:solidFill>
              </a:rPr>
              <a:t>• Reliability Weighting: </a:t>
            </a:r>
            <a:r>
              <a:rPr sz="1050">
                <a:solidFill>
                  <a:srgbClr val="64748B"/>
                </a:solidFill>
              </a:rPr>
              <a:t>f'_t = r_t * f_t weights spatial features by frame quality.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E3A8A"/>
                </a:solidFill>
              </a:rPr>
              <a:t>• Linear Projection: </a:t>
            </a:r>
            <a:r>
              <a:rPr sz="1050">
                <a:solidFill>
                  <a:srgbClr val="64748B"/>
                </a:solidFill>
              </a:rPr>
              <a:t>Projects 768 dimensions down to 256 dimensions.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E3A8A"/>
                </a:solidFill>
              </a:rPr>
              <a:t>• Mamba S6 Blocks: </a:t>
            </a:r>
            <a:r>
              <a:rPr sz="1050">
                <a:solidFill>
                  <a:srgbClr val="64748B"/>
                </a:solidFill>
              </a:rPr>
              <a:t>2-layer Mamba selective SSM scans temporal sequence across T=16.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E3A8A"/>
                </a:solidFill>
              </a:rPr>
              <a:t>• Reliability Pooling: </a:t>
            </a:r>
            <a:r>
              <a:rPr sz="1050">
                <a:solidFill>
                  <a:srgbClr val="64748B"/>
                </a:solidFill>
              </a:rPr>
              <a:t>Aggregates sequence into D_deep = sum(r_t * h_t) / sum(r_t) [B, 256].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Branch 2: MediaPipe Geometric &amp; Blendshapes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478 3D Landmarks: </a:t>
            </a:r>
            <a:r>
              <a:rPr sz="1050">
                <a:solidFill>
                  <a:srgbClr val="64748B"/>
                </a:solidFill>
              </a:rPr>
              <a:t>MediaPipe FaceLandmarker tracks 3D facial topology.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52 ARKit Blendshapes: </a:t>
            </a:r>
            <a:r>
              <a:rPr sz="1050">
                <a:solidFill>
                  <a:srgbClr val="64748B"/>
                </a:solidFill>
              </a:rPr>
              <a:t>Canonical action units (eyeBlink, browDown, jawOpen, mouthSmile).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28 Geometric Features: </a:t>
            </a:r>
            <a:r>
              <a:rPr sz="1050">
                <a:solidFill>
                  <a:srgbClr val="64748B"/>
                </a:solidFill>
              </a:rPr>
              <a:t>EAR, lid separation, iris gaze offsets, mouth aspect ratio, pose.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Clip Aggregation (3L=240): </a:t>
            </a:r>
            <a:r>
              <a:rPr sz="1050">
                <a:solidFill>
                  <a:srgbClr val="64748B"/>
                </a:solidFill>
              </a:rPr>
              <a:t>Combines [Mean || Std || Mean|Delta|] across frames.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D9488"/>
                </a:solidFill>
              </a:rPr>
              <a:t>• StandardScaler &amp; Projection: </a:t>
            </a:r>
            <a:r>
              <a:rPr sz="1050">
                <a:solidFill>
                  <a:srgbClr val="64748B"/>
                </a:solidFill>
              </a:rPr>
              <a:t>Normalized by train split statistics -&gt; Linear(240 -&gt; 256).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MRG-VIT–MAMBA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Feature Fusion &amp; MLP Classifier Specifications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Deep Branch [B, 256]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Landmark Branch [B, 256]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1645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Concatenation [B, 512]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4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F_fused = [ D_deep || L_landmark 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10698480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29000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3-Layer Multilayer Perceptron (MLP) 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150">
                <a:solidFill>
                  <a:srgbClr val="1E3A8A"/>
                </a:solidFill>
              </a:rPr>
              <a:t>• Layer 1: </a:t>
            </a:r>
            <a:r>
              <a:rPr sz="1100">
                <a:solidFill>
                  <a:srgbClr val="1E293B"/>
                </a:solidFill>
              </a:rPr>
              <a:t>Linear(512 -&gt; 256)  +  GELU Activation  +  Dropout(0.3)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3A8A"/>
                </a:solidFill>
              </a:rPr>
              <a:t>• Layer 2: </a:t>
            </a:r>
            <a:r>
              <a:rPr sz="1100">
                <a:solidFill>
                  <a:srgbClr val="1E293B"/>
                </a:solidFill>
              </a:rPr>
              <a:t>Linear(256 -&gt; 128)  +  GELU Activation  +  Dropout(0.3)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3A8A"/>
                </a:solidFill>
              </a:rPr>
              <a:t>• Layer 3: </a:t>
            </a:r>
            <a:r>
              <a:rPr sz="1100">
                <a:solidFill>
                  <a:srgbClr val="1E293B"/>
                </a:solidFill>
              </a:rPr>
              <a:t>Linear(128 -&gt; 4)    --&gt;  Raw Logits Output [B, 4]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3A8A"/>
                </a:solidFill>
              </a:rPr>
              <a:t>• Loss Function: </a:t>
            </a:r>
            <a:r>
              <a:rPr sz="1100">
                <a:solidFill>
                  <a:srgbClr val="1E293B"/>
                </a:solidFill>
              </a:rPr>
              <a:t>Cross-Entropy Loss with training-fitted class weights.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1E3A8A"/>
                </a:solidFill>
              </a:rPr>
              <a:t>• 4 Output Classes: </a:t>
            </a:r>
            <a:r>
              <a:rPr sz="1100">
                <a:solidFill>
                  <a:srgbClr val="1E293B"/>
                </a:solidFill>
              </a:rPr>
              <a:t>0: Very Low  |  1: Low  |  2: High  |  3: Very High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MRG-VIT–MAMBA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Pipeline Verification Gates &amp; Testing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Verification Checkpoints &amp; Unit Tests (38/38 Passed)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828800"/>
          <a:ext cx="10332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371600"/>
                <a:gridCol w="6035040"/>
              </a:tblGrid>
              <a:tr h="51435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Gate / Checkpoint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Verified Evidence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Unit Test Suite (tests/test_units.py)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38/38 unit tests passed cleanly (12.67s).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Checkpoint 1 &amp; 2: Dataset &amp; Split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108/108 clips decodable; 0 subject overlap across train/val/test.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Checkpoint 3: Face &amp; Landmark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100% face detection across test frames, 99.48% across corpus.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Checkpoint 4: Motion Reliability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MRS in [0.2976, 0.9880], mean=0.6484, std=0.1272. No NaNs/Infs.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Checkpoint 5: Landmark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Fixed L=80 per frame, 3L=240 per clip. Blendshapes canonical.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Checkpoint 6 &amp; 7: ViT &amp; Mamba S6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ViT [B,T,768]; Mamba S6 causality verified (0.0 change at t &lt; 8).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Test 9-12: Full Overfit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Gradient updates on 35 tensors; tiny overfit loss -&gt; 0.0000 (100% acc).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MRG-VIT–MAMBA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Experimental Evaluation &amp; Ablation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6576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Primary Model (checkpoints/main/best.pt)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b="1" sz="1100">
                <a:solidFill>
                  <a:srgbClr val="1E293B"/>
                </a:solidFill>
              </a:rPr>
              <a:t>Test Accuracy: </a:t>
            </a:r>
            <a:r>
              <a:rPr b="1" sz="1150">
                <a:solidFill>
                  <a:srgbClr val="1E3A8A"/>
                </a:solidFill>
              </a:rPr>
              <a:t>0.3056 (30.56%)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1E293B"/>
                </a:solidFill>
              </a:rPr>
              <a:t>Macro-F1: </a:t>
            </a:r>
            <a:r>
              <a:rPr b="1" sz="1150">
                <a:solidFill>
                  <a:srgbClr val="1E3A8A"/>
                </a:solidFill>
              </a:rPr>
              <a:t>0.2397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1E293B"/>
                </a:solidFill>
              </a:rPr>
              <a:t>Weighted F1: </a:t>
            </a:r>
            <a:r>
              <a:rPr b="1" sz="1150">
                <a:solidFill>
                  <a:srgbClr val="1E3A8A"/>
                </a:solidFill>
              </a:rPr>
              <a:t>0.3021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1E293B"/>
                </a:solidFill>
              </a:rPr>
              <a:t>Evaluation Split: </a:t>
            </a:r>
            <a:r>
              <a:rPr b="1" sz="1150">
                <a:solidFill>
                  <a:srgbClr val="1E3A8A"/>
                </a:solidFill>
              </a:rPr>
              <a:t>36 test clips across 8 unseen subjects.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280160"/>
            <a:ext cx="685800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417319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Multi-Seed Ablation Study (7 Arms x 5 Seeds)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754880" y="1828800"/>
          <a:ext cx="6492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1645920"/>
              </a:tblGrid>
              <a:tr h="5878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Ablation Arm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Test 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Test Macro-F1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full (Proposed MRS + Pooling)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0.278 ± 0.035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0.214 ± 0.024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multiply_only (MRS weighting 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0.289 ± 0.045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0.217 ± 0.029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no_mrs (Baseline r_t = 1.0)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0.272 ± 0.044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0.205 ± 0.029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bidirectional (Vim-style scan)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0.306 ± 0.105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0.219 ± 0.030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no_landmarks (Deep ViT branch 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0.278 ± 0.086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0.170 ± 0.046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Baseline: Stratified 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0.3370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0.2420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MRG-VIT–MAMBA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Key Takeaways &amp; Future Research Directions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Key Findings &amp; 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b="1" sz="1150">
                <a:solidFill>
                  <a:srgbClr val="1E3A8A"/>
                </a:solidFill>
              </a:rPr>
              <a:t>✔ Pipeline Verification: </a:t>
            </a:r>
            <a:r>
              <a:rPr sz="1100">
                <a:solidFill>
                  <a:srgbClr val="64748B"/>
                </a:solidFill>
              </a:rPr>
              <a:t>Delivers a fully verified, zero-leakage, subject-disjoint deep learning pipeline with 100% passing tests.</a:t>
            </a:r>
          </a:p>
          <a:p>
            <a:pPr>
              <a:spcAft>
                <a:spcPts val="1200"/>
              </a:spcAft>
            </a:pPr>
            <a:r>
              <a:rPr b="1" sz="1150">
                <a:solidFill>
                  <a:srgbClr val="1E3A8A"/>
                </a:solidFill>
              </a:rPr>
              <a:t>✔ Branch Importance: </a:t>
            </a:r>
            <a:r>
              <a:rPr sz="1100">
                <a:solidFill>
                  <a:srgbClr val="64748B"/>
                </a:solidFill>
              </a:rPr>
              <a:t>MediaPipe facial blendshapes provide critical predictive signal—removing them (no_landmarks) causes Macro-F1 to drop from 0.214 -&gt; 0.170.</a:t>
            </a:r>
          </a:p>
          <a:p>
            <a:pPr>
              <a:spcAft>
                <a:spcPts val="1200"/>
              </a:spcAft>
            </a:pPr>
            <a:r>
              <a:rPr b="1" sz="1150">
                <a:solidFill>
                  <a:srgbClr val="1E3A8A"/>
                </a:solidFill>
              </a:rPr>
              <a:t>✔ MRS Reliability: </a:t>
            </a:r>
            <a:r>
              <a:rPr sz="1100">
                <a:solidFill>
                  <a:srgbClr val="64748B"/>
                </a:solidFill>
              </a:rPr>
              <a:t>Successfully quantifies observation quality per frame without leaking engagement labels.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Next Steps &amp; Recommendations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150">
                <a:solidFill>
                  <a:srgbClr val="0D9488"/>
                </a:solidFill>
              </a:rPr>
              <a:t>➔ Scale to Full DAiSEE: </a:t>
            </a:r>
            <a:r>
              <a:rPr sz="1100">
                <a:solidFill>
                  <a:srgbClr val="64748B"/>
                </a:solidFill>
              </a:rPr>
              <a:t>Expand training from the 108-clip subset to the full 9,068-clip release across 112 subjects.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D9488"/>
                </a:solidFill>
              </a:rPr>
              <a:t>➔ Prevent Subject Memorization: </a:t>
            </a:r>
            <a:r>
              <a:rPr sz="1100">
                <a:solidFill>
                  <a:srgbClr val="64748B"/>
                </a:solidFill>
              </a:rPr>
              <a:t>With 112 subjects, 1.37M parameters can learn subject-invariant engagement patterns without overfitting.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D9488"/>
                </a:solidFill>
              </a:rPr>
              <a:t>➔ Regularization &amp; Augmentations: </a:t>
            </a:r>
            <a:r>
              <a:rPr sz="1100">
                <a:solidFill>
                  <a:srgbClr val="64748B"/>
                </a:solidFill>
              </a:rPr>
              <a:t>Apply facial landmark jittering, temporal frame dropout, and higher weight decay.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D9488"/>
                </a:solidFill>
              </a:rPr>
              <a:t>➔ Backbone Exploration: </a:t>
            </a:r>
            <a:r>
              <a:rPr sz="1100">
                <a:solidFill>
                  <a:srgbClr val="64748B"/>
                </a:solidFill>
              </a:rPr>
              <a:t>Test CLIP-ViT and DINOv2 visual backbones via the modular cache pipeline.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