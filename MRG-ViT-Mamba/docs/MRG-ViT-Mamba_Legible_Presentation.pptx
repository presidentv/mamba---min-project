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82880" cy="3291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875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MRG-ViT–Mamba Architecture</a:t>
            </a:r>
          </a:p>
          <a:p>
            <a:pPr>
              <a:spcBef>
                <a:spcPts val="1200"/>
              </a:spcBef>
              <a:defRPr sz="2000">
                <a:solidFill>
                  <a:srgbClr val="0D9488"/>
                </a:solidFill>
              </a:defRPr>
            </a:pPr>
            <a:r>
              <a:t>Reliability-Guided ViT + Mamba Temporal Modeling for Student Engagement Recognition</a:t>
            </a:r>
          </a:p>
          <a:p>
            <a:pPr>
              <a:spcBef>
                <a:spcPts val="2800"/>
              </a:spcBef>
              <a:defRPr sz="1500">
                <a:solidFill>
                  <a:srgbClr val="E2E8F0"/>
                </a:solidFill>
              </a:defRPr>
            </a:pPr>
            <a:r>
              <a:t>DAiSEE Benchmark  •  Subject-Disjoint Pipeline  •  38/38 Unit Tests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MRG-VIT–MAMBA SYSTEM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Executive Summary: Problem &amp;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The Real-World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350">
                <a:solidFill>
                  <a:srgbClr val="0F172A"/>
                </a:solidFill>
              </a:rPr>
              <a:t>• Webcam Noise: </a:t>
            </a:r>
            <a:r>
              <a:rPr sz="1300">
                <a:solidFill>
                  <a:srgbClr val="334155"/>
                </a:solidFill>
              </a:rPr>
              <a:t>Motion blur, head tilt, dark rooms, and hand occlusions distort video frames.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0F172A"/>
                </a:solidFill>
              </a:rPr>
              <a:t>• False AI Predictions: </a:t>
            </a:r>
            <a:r>
              <a:rPr sz="1300">
                <a:solidFill>
                  <a:srgbClr val="334155"/>
                </a:solidFill>
              </a:rPr>
              <a:t>Standard models mistake poor video frames for 'disengagement.'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0F172A"/>
                </a:solidFill>
              </a:rPr>
              <a:t>• Subject Overfitting: </a:t>
            </a:r>
            <a:r>
              <a:rPr sz="1300">
                <a:solidFill>
                  <a:srgbClr val="334155"/>
                </a:solidFill>
              </a:rPr>
              <a:t>Models often memorize face identities instead of true engagement cues.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The MRG-ViT–Mamba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350">
                <a:solidFill>
                  <a:srgbClr val="1D4ED8"/>
                </a:solidFill>
              </a:rPr>
              <a:t>• Motion Reliability (MRS): </a:t>
            </a:r>
            <a:r>
              <a:rPr sz="1300">
                <a:solidFill>
                  <a:srgbClr val="334155"/>
                </a:solidFill>
              </a:rPr>
              <a:t>Evaluates observation quality r_t ∈ [0, 1] per frame without bias.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1D4ED8"/>
                </a:solidFill>
              </a:rPr>
              <a:t>• Frozen ViT Spatial Encoder: </a:t>
            </a:r>
            <a:r>
              <a:rPr sz="1300">
                <a:solidFill>
                  <a:srgbClr val="334155"/>
                </a:solidFill>
              </a:rPr>
              <a:t>ImageNet ViT-B/16 extracts 768-dim visual features per frame.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1D4ED8"/>
                </a:solidFill>
              </a:rPr>
              <a:t>• Mamba S6 Temporal Model: </a:t>
            </a:r>
            <a:r>
              <a:rPr sz="1300">
                <a:solidFill>
                  <a:srgbClr val="334155"/>
                </a:solidFill>
              </a:rPr>
              <a:t>2-layer Mamba selective state scan models sequence dynamics.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1D4ED8"/>
                </a:solidFill>
              </a:rPr>
              <a:t>• MediaPipe Expression Branch: </a:t>
            </a:r>
            <a:r>
              <a:rPr sz="1300">
                <a:solidFill>
                  <a:srgbClr val="334155"/>
                </a:solidFill>
              </a:rPr>
              <a:t>Fuses 28 geometric metrics + 52 ARKit blendshapes (240 dims).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MRG-VIT–MAMBA SYSTEM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System Flow Architecture (High-Level Overview)</a:t>
            </a:r>
          </a:p>
        </p:txBody>
      </p:sp>
      <p:pic>
        <p:nvPicPr>
          <p:cNvPr id="6" name="Picture 5" descr="diagram_overview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4415" cy="6210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MRG-VIT–MAMBA SYSTEM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Dual-Branch Feature Fusion Architecture</a:t>
            </a:r>
          </a:p>
        </p:txBody>
      </p:sp>
      <p:pic>
        <p:nvPicPr>
          <p:cNvPr id="6" name="Picture 5" descr="diagram_branches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4415" cy="6907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MRG-VIT–MAMBA SYSTEM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Motion Reliability Score (MRS)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109728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MRS Formula:   MRS_t = 0.2·Blur  +  0.2·FaceSize  +  0.2·Pose  +  0.2·Eyes  +  0.2·Motion</a:t>
            </a:r>
          </a:p>
          <a:p>
            <a:pPr algn="ctr">
              <a:defRPr sz="1200">
                <a:solidFill>
                  <a:srgbClr val="99F6E4"/>
                </a:solidFill>
              </a:defRPr>
            </a:pPr>
            <a:r>
              <a:t>Calculates frame quality score r_t in [0, 1] purely from observation quality without touching engagement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6984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5 Core Reliability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300">
                <a:solidFill>
                  <a:srgbClr val="1D4ED8"/>
                </a:solidFill>
              </a:rPr>
              <a:t>• Blur (B): </a:t>
            </a:r>
            <a:r>
              <a:rPr sz="1250">
                <a:solidFill>
                  <a:srgbClr val="334155"/>
                </a:solidFill>
              </a:rPr>
              <a:t>Laplacian variance on face crop mapped through train percentiles (percentile bounds [2.54, 4.54]).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D4ED8"/>
                </a:solidFill>
              </a:rPr>
              <a:t>• Face Size (F): </a:t>
            </a:r>
            <a:r>
              <a:rPr sz="1250">
                <a:solidFill>
                  <a:srgbClr val="334155"/>
                </a:solidFill>
              </a:rPr>
              <a:t>Detector confidence multiplied by face area fraction (train bounds [0.041, 0.139]).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D4ED8"/>
                </a:solidFill>
              </a:rPr>
              <a:t>• Head Pose (H): </a:t>
            </a:r>
            <a:r>
              <a:rPr sz="1250">
                <a:solidFill>
                  <a:srgbClr val="334155"/>
                </a:solidFill>
              </a:rPr>
              <a:t>1.0 below 15° yaw/pitch; penalizes extreme head rotation above 60°.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D4ED8"/>
                </a:solidFill>
              </a:rPr>
              <a:t>• Eye Visibility (E): </a:t>
            </a:r>
            <a:r>
              <a:rPr sz="1250">
                <a:solidFill>
                  <a:srgbClr val="334155"/>
                </a:solidFill>
              </a:rPr>
              <a:t>Fraction of key eye/iris points localizable in frame (does not penalize blinking).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D4ED8"/>
                </a:solidFill>
              </a:rPr>
              <a:t>• Motion (M): </a:t>
            </a:r>
            <a:r>
              <a:rPr sz="1250">
                <a:solidFill>
                  <a:srgbClr val="334155"/>
                </a:solidFill>
              </a:rPr>
              <a:t>Inter-ocular landmark displacement velocity (falls back to Zero-Mean Normalized Cross-Correlation ZNCC).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MRG-VIT–MAMBA SYSTEM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Pipeline Verification Gates &amp; Test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100% Verified Codebase (38 Unit Tests Passed)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92024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5760720"/>
              </a:tblGrid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Gate / Test Checkpoint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Verified Result Details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Unit Test Suite (tests/test_units.py)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38/38 unit tests passed cleanly in 12.67 seconds.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Dataset &amp; Split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108/108 decodable clips; 0 subject overlap across splits.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Face &amp; Landmark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100% face detection across test frames, 99.48% across corpus.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Motion Reliability Score (MRS)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MRS in [0.2976, 0.9880], std=0.1272. No NaNs or Infs.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ViT Spatial &amp; Mamba 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ViT [B,T,768]; Mamba S6 causality verified (0.0 change at t &lt; 8).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Full Pipeline &amp; Overfit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Gradient updates on 35 tensors; tiny overfit loss -&gt; 0.0000.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MRG-VIT–MAMBA SYSTEM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Key Conclusions &amp; 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Key 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300">
                <a:solidFill>
                  <a:srgbClr val="1D4ED8"/>
                </a:solidFill>
              </a:rPr>
              <a:t>✔ Verified Codebase: </a:t>
            </a:r>
            <a:r>
              <a:rPr sz="1250">
                <a:solidFill>
                  <a:srgbClr val="334155"/>
                </a:solidFill>
              </a:rPr>
              <a:t>Delivers a completely verified, reproducible deep learning pipeline.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D4ED8"/>
                </a:solidFill>
              </a:rPr>
              <a:t>✔ Expression Branch Signal: </a:t>
            </a:r>
            <a:r>
              <a:rPr sz="1250">
                <a:solidFill>
                  <a:srgbClr val="334155"/>
                </a:solidFill>
              </a:rPr>
              <a:t>MediaPipe blendshapes are vital—removing them (no_landmarks) drops Macro-F1 from 0.214 -&gt; 0.170.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D4ED8"/>
                </a:solidFill>
              </a:rPr>
              <a:t>✔ MRS Reliability Filtering: </a:t>
            </a:r>
            <a:r>
              <a:rPr sz="1250">
                <a:solidFill>
                  <a:srgbClr val="334155"/>
                </a:solidFill>
              </a:rPr>
              <a:t>Successfully quantifies observation quality without label bias.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Recommendations for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300">
                <a:solidFill>
                  <a:srgbClr val="0D9488"/>
                </a:solidFill>
              </a:rPr>
              <a:t>➔ Scale to Full DAiSEE: </a:t>
            </a:r>
            <a:r>
              <a:rPr sz="1250">
                <a:solidFill>
                  <a:srgbClr val="334155"/>
                </a:solidFill>
              </a:rPr>
              <a:t>Expand from 108 clips to the full 9,068-clip release across 112 subjects.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D9488"/>
                </a:solidFill>
              </a:rPr>
              <a:t>➔ Learn Subject Invariance: </a:t>
            </a:r>
            <a:r>
              <a:rPr sz="1250">
                <a:solidFill>
                  <a:srgbClr val="334155"/>
                </a:solidFill>
              </a:rPr>
              <a:t>Training across 112 subjects allows 1.37M parameters to generalize without memorizing face identities.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D9488"/>
                </a:solidFill>
              </a:rPr>
              <a:t>➔ Data Augmentations: </a:t>
            </a:r>
            <a:r>
              <a:rPr sz="1250">
                <a:solidFill>
                  <a:srgbClr val="334155"/>
                </a:solidFill>
              </a:rPr>
              <a:t>Apply landmark jittering, temporal frame dropout, and higher weight decay.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